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977639"/>
            <a:ext cx="12191695" cy="64008"/>
          </a:xfrm>
          <a:prstGeom prst="rect">
            <a:avLst/>
          </a:prstGeom>
          <a:solidFill>
            <a:srgbClr val="4C8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4577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6000" b="1" i="0">
                <a:solidFill>
                  <a:srgbClr val="FFFFFF"/>
                </a:solidFill>
                <a:latin typeface="Calibri"/>
              </a:rPr>
              <a:t>AtlasCare</a:t>
            </a:r>
          </a:p>
          <a:p>
            <a:r>
              <a:rPr sz="2400" b="0" i="0">
                <a:solidFill>
                  <a:srgbClr val="CFDCF2"/>
                </a:solidFill>
                <a:latin typeface="Calibri"/>
              </a:rPr>
              <a:t>Agentic AI Customer-Support Platform  ·  Acme Retail Co.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206240"/>
            <a:ext cx="1054577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 i="1">
                <a:solidFill>
                  <a:srgbClr val="FFFFFF"/>
                </a:solidFill>
                <a:latin typeface="Calibri"/>
              </a:rPr>
              <a:t>“The model gets to decide — but code gets the final say.”</a:t>
            </a:r>
          </a:p>
          <a:p>
            <a:r>
              <a:rPr sz="1500" b="0" i="0">
                <a:solidFill>
                  <a:srgbClr val="AFC1DF"/>
                </a:solidFill>
                <a:latin typeface="Calibri"/>
              </a:rPr>
              <a:t>Every guardrail that touches money is deterministic Python — added in response to a real failure found under stress-testing.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09728" wrap="square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What happens when the AI is wrong?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4C8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11185855" cy="525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0" i="0">
                <a:solidFill>
                  <a:srgbClr val="20242B"/>
                </a:solidFill>
                <a:latin typeface="Calibri"/>
              </a:rPr>
              <a:t>•  Not if — when. It misreads the order, gets talked into something, or the gateway times out mid-refund.</a:t>
            </a:r>
          </a:p>
          <a:p>
            <a:pPr>
              <a:spcAft>
                <a:spcPts val="1000"/>
              </a:spcAft>
            </a:pPr>
            <a:r>
              <a:rPr sz="1800" b="0" i="0">
                <a:solidFill>
                  <a:srgbClr val="20242B"/>
                </a:solidFill>
                <a:latin typeface="Calibri"/>
              </a:rPr>
              <a:t>•  Most demos never ask this, because in a demo the model is always right. This was built assuming it sometimes won't be.</a:t>
            </a:r>
          </a:p>
          <a:p>
            <a:pPr>
              <a:spcAft>
                <a:spcPts val="1000"/>
              </a:spcAft>
            </a:pPr>
            <a:r>
              <a:rPr sz="1800" b="1" i="0">
                <a:solidFill>
                  <a:srgbClr val="20242B"/>
                </a:solidFill>
                <a:latin typeface="Calibri"/>
              </a:rPr>
              <a:t>•  Optimised for 3 a.m. on-call: "did we refund money we shouldn't have, or fail to refund money we should have?"</a:t>
            </a:r>
          </a:p>
          <a:p>
            <a:pPr>
              <a:spcAft>
                <a:spcPts val="1000"/>
              </a:spcAft>
            </a:pPr>
            <a:r>
              <a:rPr sz="1800" b="1" i="0">
                <a:solidFill>
                  <a:srgbClr val="20242B"/>
                </a:solidFill>
                <a:latin typeface="Calibri"/>
              </a:rPr>
              <a:t>•  The spine of the whole project:</a:t>
            </a:r>
          </a:p>
          <a:p>
            <a:pPr lvl="1">
              <a:spcAft>
                <a:spcPts val="1000"/>
              </a:spcAft>
            </a:pPr>
            <a:r>
              <a:rPr sz="1600" b="0" i="0">
                <a:solidFill>
                  <a:srgbClr val="555B66"/>
                </a:solidFill>
                <a:latin typeface="Calibri"/>
              </a:rPr>
              <a:t>–  The prompt is the first line of defence — never the last.</a:t>
            </a:r>
          </a:p>
          <a:p>
            <a:pPr lvl="1">
              <a:spcAft>
                <a:spcPts val="1000"/>
              </a:spcAft>
            </a:pPr>
            <a:r>
              <a:rPr sz="1600" b="0" i="0">
                <a:solidFill>
                  <a:srgbClr val="555B66"/>
                </a:solidFill>
                <a:latin typeface="Calibri"/>
              </a:rPr>
              <a:t>–  Behind every money/order rule sits a deterministic, fully-tested Python guardrail that does not care whether the model obeyed.</a:t>
            </a:r>
          </a:p>
          <a:p>
            <a:pPr lvl="1">
              <a:spcAft>
                <a:spcPts val="1000"/>
              </a:spcAft>
            </a:pPr>
            <a:r>
              <a:rPr sz="1600" b="0" i="0">
                <a:solidFill>
                  <a:srgbClr val="555B66"/>
                </a:solidFill>
                <a:latin typeface="Calibri"/>
              </a:rPr>
              <a:t>–  Nearly every guardrail in this deck exists because the prompt-only version failed under stress-testing.</a:t>
            </a:r>
          </a:p>
          <a:p>
            <a:pPr>
              <a:spcAft>
                <a:spcPts val="1000"/>
              </a:spcAft>
            </a:pPr>
            <a:r>
              <a:rPr sz="1800" b="0" i="0">
                <a:solidFill>
                  <a:srgbClr val="20242B"/>
                </a:solidFill>
                <a:latin typeface="Calibri"/>
              </a:rPr>
              <a:t>•  Rubric dimensions covered: business KPIs · scalable architecture · governance · security · compliance · evaluations.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09728" wrap="square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Architecture — an explicit, inspectable graph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4C8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554919" y="301752"/>
            <a:ext cx="1316736" cy="384048"/>
          </a:xfrm>
          <a:prstGeom prst="roundRect">
            <a:avLst/>
          </a:prstGeom>
          <a:solidFill>
            <a:srgbClr val="4C8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143000"/>
            <a:ext cx="1136873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1">
                <a:solidFill>
                  <a:srgbClr val="555B66"/>
                </a:solidFill>
                <a:latin typeface="Calibri"/>
              </a:rPr>
              <a:t>FastAPI (main.py) + Gradio UI + a LangGraph state machine (agent/graph.py). No free-wheeling tool loop — named stages, and the edges between them are code.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828800"/>
            <a:ext cx="11368735" cy="914400"/>
          </a:xfrm>
          <a:prstGeom prst="roundRect">
            <a:avLst/>
          </a:prstGeom>
          <a:solidFill>
            <a:srgbClr val="1E1E2E"/>
          </a:solidFill>
          <a:ln w="9525">
            <a:solidFill>
              <a:srgbClr val="4C8B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201168" rIns="137160" tIns="109728" bIns="9144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DD6F4"/>
                </a:solidFill>
                <a:latin typeface="Consolas"/>
              </a:rPr>
              <a:t>input_redaction → confirmation_check → pre_guardrail → policy_grounding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DD6F4"/>
                </a:solidFill>
                <a:latin typeface="Consolas"/>
              </a:rPr>
              <a:t>  → tool_agent → tool_executor → post_guardrail → responder → evaluator → END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2880360"/>
            <a:ext cx="11368735" cy="3703320"/>
          </a:xfrm>
          <a:prstGeom prst="roundRect">
            <a:avLst/>
          </a:prstGeom>
          <a:solidFill>
            <a:srgbClr val="1E1E2E"/>
          </a:solidFill>
          <a:ln w="9525">
            <a:solidFill>
              <a:srgbClr val="4C8B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201168" rIns="137160" tIns="109728" bIns="9144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CDD6F4"/>
                </a:solidFill>
                <a:latin typeface="Consolas"/>
              </a:rPr>
              <a:t>def build_graph(checkpointer=None):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CDD6F4"/>
                </a:solidFill>
                <a:latin typeface="Consolas"/>
              </a:rPr>
              <a:t>    g = StateGraph(AtlasCareState)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CDD6F4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CDD6F4"/>
                </a:solidFill>
                <a:latin typeface="Consolas"/>
              </a:rPr>
              <a:t>    g.add_node("input_redaction",   input_redaction_node)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CDD6F4"/>
                </a:solidFill>
                <a:latin typeface="Consolas"/>
              </a:rPr>
              <a:t>    g.add_node("confirmation_check", confirmation_check_node)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CDD6F4"/>
                </a:solidFill>
                <a:latin typeface="Consolas"/>
              </a:rPr>
              <a:t>    g.add_node("pre_guardrail",      pre_guardrail_node)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CDD6F4"/>
                </a:solidFill>
                <a:latin typeface="Consolas"/>
              </a:rPr>
              <a:t>    g.add_node("policy_grounding",   policy_grounding_node)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CDD6F4"/>
                </a:solidFill>
                <a:latin typeface="Consolas"/>
              </a:rPr>
              <a:t>    g.add_node("tool_agent",         tool_agent_node)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CDD6F4"/>
                </a:solidFill>
                <a:latin typeface="Consolas"/>
              </a:rPr>
              <a:t>    g.add_node("tool_executor",      tool_executor_node)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CDD6F4"/>
                </a:solidFill>
                <a:latin typeface="Consolas"/>
              </a:rPr>
              <a:t>    g.add_node("post_guardrail",     post_guardrail_node)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CDD6F4"/>
                </a:solidFill>
                <a:latin typeface="Consolas"/>
              </a:rPr>
              <a:t>    g.add_node("responder",          responder_node)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CDD6F4"/>
                </a:solidFill>
                <a:latin typeface="Consolas"/>
              </a:rPr>
              <a:t>    g.add_node("evaluator",          evaluator_node)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CDD6F4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CDD6F4"/>
                </a:solidFill>
                <a:latin typeface="Consolas"/>
              </a:rPr>
              <a:t>    g.add_edge(START, "input_redaction")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CDD6F4"/>
                </a:solidFill>
                <a:latin typeface="Consolas"/>
              </a:rPr>
              <a:t>    g.add_edge("input_redaction", "confirmation_check")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CDD6F4"/>
                </a:solidFill>
                <a:latin typeface="Consolas"/>
              </a:rPr>
              <a:t>    g.add_conditional_edges("confirmation_check", _route_confirmation_check,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CDD6F4"/>
                </a:solidFill>
                <a:latin typeface="Consolas"/>
              </a:rPr>
              <a:t>                            {"end": END, "post_guardrail": "post_guardrail",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CDD6F4"/>
                </a:solidFill>
                <a:latin typeface="Consolas"/>
              </a:rPr>
              <a:t>                             "pre_guardrail": "pre_guardrail"})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CDD6F4"/>
                </a:solidFill>
                <a:latin typeface="Consolas"/>
              </a:rPr>
              <a:t>    g.add_conditional_edges("pre_guardrail",  _route_pre_guardrail,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CDD6F4"/>
                </a:solidFill>
                <a:latin typeface="Consolas"/>
              </a:rPr>
              <a:t>                            {"end": END, "continue": "policy_grounding"})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CDD6F4"/>
                </a:solidFill>
                <a:latin typeface="Consolas"/>
              </a:rPr>
              <a:t>    g.add_conditional_edges("policy_grounding", _route_policy_grounding,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CDD6F4"/>
                </a:solidFill>
                <a:latin typeface="Consolas"/>
              </a:rPr>
              <a:t>                            {"responder": "responder", "tool_agent": "tool_agent"})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CDD6F4"/>
                </a:solidFill>
                <a:latin typeface="Consolas"/>
              </a:rPr>
              <a:t>    g.add_conditional_edges("tool_agent",     _route_tool_agent,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CDD6F4"/>
                </a:solidFill>
                <a:latin typeface="Consolas"/>
              </a:rPr>
              <a:t>                            {"tools": "tool_executor", "respond": "post_guardrail"})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CDD6F4"/>
                </a:solidFill>
                <a:latin typeface="Consolas"/>
              </a:rPr>
              <a:t>    g.add_conditional_edges("tool_executor", _route_tool_executor,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CDD6F4"/>
                </a:solidFill>
                <a:latin typeface="Consolas"/>
              </a:rPr>
              <a:t>                            {"tool_agent": "tool_agent", "post_guardrail": "post_guardrail"})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CDD6F4"/>
                </a:solidFill>
                <a:latin typeface="Consolas"/>
              </a:rPr>
              <a:t>    g.add_conditional_edges("post_guardrail", _route_post_guardrail,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CDD6F4"/>
                </a:solidFill>
                <a:latin typeface="Consolas"/>
              </a:rPr>
              <a:t>                            {"end": END, "responder": "responder"})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CDD6F4"/>
                </a:solidFill>
                <a:latin typeface="Consolas"/>
              </a:rPr>
              <a:t>    g.add_edge("responder", "evaluator")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CDD6F4"/>
                </a:solidFill>
                <a:latin typeface="Consolas"/>
              </a:rPr>
              <a:t>    g.add_conditional_edges("evaluator",      _route_evaluator,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CDD6F4"/>
                </a:solidFill>
                <a:latin typeface="Consolas"/>
              </a:rPr>
              <a:t>    # ... (continues in source)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09728" wrap="square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Each node exists for a reason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4C8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554919" y="301752"/>
            <a:ext cx="1316736" cy="384048"/>
          </a:xfrm>
          <a:prstGeom prst="roundRect">
            <a:avLst/>
          </a:prstGeom>
          <a:solidFill>
            <a:srgbClr val="4C8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88720"/>
            <a:ext cx="1118585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600" b="0" i="0">
                <a:solidFill>
                  <a:srgbClr val="20242B"/>
                </a:solidFill>
                <a:latin typeface="Calibri"/>
              </a:rPr>
              <a:t>•  input_redaction — the true front door; masks card/CVV/email/phone before history, LLM, or logs (PCI/PII).</a:t>
            </a:r>
          </a:p>
          <a:p>
            <a:pPr>
              <a:spcAft>
                <a:spcPts val="700"/>
              </a:spcAft>
            </a:pPr>
            <a:r>
              <a:rPr sz="1600" b="0" i="0">
                <a:solidFill>
                  <a:srgbClr val="20242B"/>
                </a:solidFill>
                <a:latin typeface="Calibri"/>
              </a:rPr>
              <a:t>•  confirmation_check — resolves last turn's pending "are you sure?" before anything else runs.</a:t>
            </a:r>
          </a:p>
          <a:p>
            <a:pPr>
              <a:spcAft>
                <a:spcPts val="700"/>
              </a:spcAft>
            </a:pPr>
            <a:r>
              <a:rPr sz="1600" b="0" i="0">
                <a:solidFill>
                  <a:srgbClr val="20242B"/>
                </a:solidFill>
                <a:latin typeface="Calibri"/>
              </a:rPr>
              <a:t>•  pre_guardrail — deterministic checks BEFORE the model: safety/fraud escalation, over-limit refunds, malformed IDs.</a:t>
            </a:r>
          </a:p>
          <a:p>
            <a:pPr>
              <a:spcAft>
                <a:spcPts val="700"/>
              </a:spcAft>
            </a:pPr>
            <a:r>
              <a:rPr sz="1600" b="0" i="0">
                <a:solidFill>
                  <a:srgbClr val="20242B"/>
                </a:solidFill>
                <a:latin typeface="Calibri"/>
              </a:rPr>
              <a:t>•  policy_grounding — splits Q&amp;A (RAG) from actions (tools); a general policy question skips the planner entirely.</a:t>
            </a:r>
          </a:p>
          <a:p>
            <a:pPr>
              <a:spcAft>
                <a:spcPts val="700"/>
              </a:spcAft>
            </a:pPr>
            <a:r>
              <a:rPr sz="1600" b="0" i="0">
                <a:solidFill>
                  <a:srgbClr val="20242B"/>
                </a:solidFill>
                <a:latin typeface="Calibri"/>
              </a:rPr>
              <a:t>•  tool_agent — the planner; two-tier model strategy (big model for mutations, small/fast for lookups).</a:t>
            </a:r>
          </a:p>
          <a:p>
            <a:pPr>
              <a:spcAft>
                <a:spcPts val="700"/>
              </a:spcAft>
            </a:pPr>
            <a:r>
              <a:rPr sz="1600" b="0" i="0">
                <a:solidFill>
                  <a:srgbClr val="20242B"/>
                </a:solidFill>
                <a:latin typeface="Calibri"/>
              </a:rPr>
              <a:t>•  tool_executor — the chokepoint every action passes through; where code-enforced policy lives.</a:t>
            </a:r>
          </a:p>
          <a:p>
            <a:pPr>
              <a:spcAft>
                <a:spcPts val="700"/>
              </a:spcAft>
            </a:pPr>
            <a:r>
              <a:rPr sz="1600" b="0" i="0">
                <a:solidFill>
                  <a:srgbClr val="20242B"/>
                </a:solidFill>
                <a:latin typeface="Calibri"/>
              </a:rPr>
              <a:t>•  post_guardrail — final money-safety net AFTER tools run.</a:t>
            </a:r>
          </a:p>
          <a:p>
            <a:pPr>
              <a:spcAft>
                <a:spcPts val="700"/>
              </a:spcAft>
            </a:pPr>
            <a:r>
              <a:rPr sz="1600" b="0" i="0">
                <a:solidFill>
                  <a:srgbClr val="20242B"/>
                </a:solidFill>
                <a:latin typeface="Calibri"/>
              </a:rPr>
              <a:t>•  responder — writes the reply from verified tool results, never the customer's unverified claims.</a:t>
            </a:r>
          </a:p>
          <a:p>
            <a:pPr>
              <a:spcAft>
                <a:spcPts val="700"/>
              </a:spcAft>
            </a:pPr>
            <a:r>
              <a:rPr sz="1600" b="0" i="0">
                <a:solidFill>
                  <a:srgbClr val="20242B"/>
                </a:solidFill>
                <a:latin typeface="Calibri"/>
              </a:rPr>
              <a:t>•  evaluator — LLM-as-judge; at most one regeneration. Quality ceiling, never the safety floor.</a:t>
            </a:r>
          </a:p>
          <a:p>
            <a:pPr>
              <a:spcAft>
                <a:spcPts val="700"/>
              </a:spcAft>
            </a:pPr>
            <a:r>
              <a:rPr sz="1600" b="1" i="0">
                <a:solidFill>
                  <a:srgbClr val="20242B"/>
                </a:solidFill>
                <a:latin typeface="Calibri"/>
              </a:rPr>
              <a:t>•  Layering: tools → services → repositories → 4 canonical files. Money is Decimal, never float.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09728" wrap="square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Config is the source of truth — no hardcoded policy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4C8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746943" y="301752"/>
            <a:ext cx="1124712" cy="384048"/>
          </a:xfrm>
          <a:prstGeom prst="roundRect">
            <a:avLst/>
          </a:prstGeom>
          <a:solidFill>
            <a:srgbClr val="4C8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COMPLIANCE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143000"/>
            <a:ext cx="1136873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1">
                <a:solidFill>
                  <a:srgbClr val="555B66"/>
                </a:solidFill>
                <a:latin typeface="Calibri"/>
              </a:rPr>
              <a:t>Precedence: config → env → safe default, resolved once at import so guardrail, tool, and prompt can't drift. Motivated by a "config that lies" bug — a value a test read but runtime ignored.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874519"/>
            <a:ext cx="11368735" cy="4663441"/>
          </a:xfrm>
          <a:prstGeom prst="roundRect">
            <a:avLst/>
          </a:prstGeom>
          <a:solidFill>
            <a:srgbClr val="1E1E2E"/>
          </a:solidFill>
          <a:ln w="9525">
            <a:solidFill>
              <a:srgbClr val="4C8B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201168" rIns="137160" tIns="109728" bIns="9144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DD6F4"/>
                </a:solidFill>
                <a:latin typeface="Consolas"/>
              </a:rPr>
              <a:t>def _resolve_auto_refund_limit() -&gt; float: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DD6F4"/>
                </a:solidFill>
                <a:latin typeface="Consolas"/>
              </a:rPr>
              <a:t>    """Resolve the auto-refund threshold so every enforcement layer agrees.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DD6F4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DD6F4"/>
                </a:solidFill>
                <a:latin typeface="Consolas"/>
              </a:rPr>
              <a:t>    Precedence (mirrors PaymentTool._enforce_threshold):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DD6F4"/>
                </a:solidFill>
                <a:latin typeface="Consolas"/>
              </a:rPr>
              <a:t>      1. ``auto_refund_limit_inr`` in payment_config.json — the data the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DD6F4"/>
                </a:solidFill>
                <a:latin typeface="Consolas"/>
              </a:rPr>
              <a:t>         operator/evaluator supplies. This is what lets the threshold track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DD6F4"/>
                </a:solidFill>
                <a:latin typeface="Consolas"/>
              </a:rPr>
              <a:t>         the deployed config WITHOUT a code change, so a swapped-in data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DD6F4"/>
                </a:solidFill>
                <a:latin typeface="Consolas"/>
              </a:rPr>
              <a:t>         folder is honoured by the guardrail and the agent prompt alike.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DD6F4"/>
                </a:solidFill>
                <a:latin typeface="Consolas"/>
              </a:rPr>
              <a:t>      2. ``AUTO_REFUND_LIMIT_INR`` env var — fallback when config is missing.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DD6F4"/>
                </a:solidFill>
                <a:latin typeface="Consolas"/>
              </a:rPr>
              <a:t>      3. Rs.25,000 hardcoded safe default.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DD6F4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DD6F4"/>
                </a:solidFill>
                <a:latin typeface="Consolas"/>
              </a:rPr>
              <a:t>    NEVER change the default without a compliance review.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DD6F4"/>
                </a:solidFill>
                <a:latin typeface="Consolas"/>
              </a:rPr>
              <a:t>    """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DD6F4"/>
                </a:solidFill>
                <a:latin typeface="Consolas"/>
              </a:rPr>
              <a:t>    try: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DD6F4"/>
                </a:solidFill>
                <a:latin typeface="Consolas"/>
              </a:rPr>
              <a:t>        from repositories.payment_repository import PaymentRepository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DD6F4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DD6F4"/>
                </a:solidFill>
                <a:latin typeface="Consolas"/>
              </a:rPr>
              <a:t>        limit = PaymentRepository().get_config().get("auto_refund_limit_inr")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DD6F4"/>
                </a:solidFill>
                <a:latin typeface="Consolas"/>
              </a:rPr>
              <a:t>        if limit is not None: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DD6F4"/>
                </a:solidFill>
                <a:latin typeface="Consolas"/>
              </a:rPr>
              <a:t>            return float(limit)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DD6F4"/>
                </a:solidFill>
                <a:latin typeface="Consolas"/>
              </a:rPr>
              <a:t>    except Exception as exc:  # pragma: no cover - defensive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DD6F4"/>
                </a:solidFill>
                <a:latin typeface="Consolas"/>
              </a:rPr>
              <a:t>        logger.warning("auto_refund_limit_inr unavailable from payment_config: %s", exc)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DD6F4"/>
                </a:solidFill>
                <a:latin typeface="Consolas"/>
              </a:rPr>
              <a:t>    return float(os.getenv("AUTO_REFUND_LIMIT_INR", str(DEFAULT_AUTO_REFUND_LIMIT_INR)))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09728" wrap="square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Money safety — the refund threshold, in 3 independent layers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4C8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554919" y="301752"/>
            <a:ext cx="1316736" cy="384048"/>
          </a:xfrm>
          <a:prstGeom prst="roundRect">
            <a:avLst/>
          </a:prstGeom>
          <a:solidFill>
            <a:srgbClr val="4C8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BUSINESS KPI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71600"/>
            <a:ext cx="11185855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 b="1" i="0">
                <a:solidFill>
                  <a:srgbClr val="20242B"/>
                </a:solidFill>
                <a:latin typeface="Calibri"/>
              </a:rPr>
              <a:t>•  The single worst thing this system can do: autonomously pay an over-limit refund that needed a human. So it's guarded three times — defence in depth.</a:t>
            </a:r>
          </a:p>
          <a:p>
            <a:pPr>
              <a:spcAft>
                <a:spcPts val="1400"/>
              </a:spcAft>
            </a:pPr>
            <a:r>
              <a:rPr sz="1900" b="0" i="0">
                <a:solidFill>
                  <a:srgbClr val="20242B"/>
                </a:solidFill>
                <a:latin typeface="Calibri"/>
              </a:rPr>
              <a:t>•  Layer 1 — GR-001, pre-LLM: block an over-limit refund request before the model ever sees it.</a:t>
            </a:r>
          </a:p>
          <a:p>
            <a:pPr>
              <a:spcAft>
                <a:spcPts val="1400"/>
              </a:spcAft>
            </a:pPr>
            <a:r>
              <a:rPr sz="1900" b="0" i="0">
                <a:solidFill>
                  <a:srgbClr val="20242B"/>
                </a:solidFill>
                <a:latin typeface="Calibri"/>
              </a:rPr>
              <a:t>•  Layer 2 — payment tool, at disbursement: the tool that moves money refuses, in Decimal.</a:t>
            </a:r>
          </a:p>
          <a:p>
            <a:pPr>
              <a:spcAft>
                <a:spcPts val="1400"/>
              </a:spcAft>
            </a:pPr>
            <a:r>
              <a:rPr sz="1900" b="0" i="0">
                <a:solidFill>
                  <a:srgbClr val="20242B"/>
                </a:solidFill>
                <a:latin typeface="Calibri"/>
              </a:rPr>
              <a:t>•  Layer 3 — GR-004, post-tools: inspect what was actually disbursed and hold a real violation.</a:t>
            </a:r>
          </a:p>
          <a:p>
            <a:pPr>
              <a:spcAft>
                <a:spcPts val="1400"/>
              </a:spcAft>
            </a:pPr>
            <a:r>
              <a:rPr sz="1900" b="1" i="0">
                <a:solidFill>
                  <a:srgbClr val="20242B"/>
                </a:solidFill>
                <a:latin typeface="Calibri"/>
              </a:rPr>
              <a:t>•  A single bug, or a single clever prompt, should never be enough to open the money tap.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09728" wrap="square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Layer 1 — GR-001 pre-LLM block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4C8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554919" y="301752"/>
            <a:ext cx="1316736" cy="384048"/>
          </a:xfrm>
          <a:prstGeom prst="roundRect">
            <a:avLst/>
          </a:prstGeom>
          <a:solidFill>
            <a:srgbClr val="4C8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BUSINESS KPI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143000"/>
            <a:ext cx="1136873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1">
                <a:solidFill>
                  <a:srgbClr val="555B66"/>
                </a:solidFill>
                <a:latin typeface="Calibri"/>
              </a:rPr>
              <a:t>Two extractors catch "₹50,000" and bare "refund 50000"; the bare-amount regex is anchored to a refund verb + 4-digit floor so an order ID or pincode is never mistaken for an amount.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874519"/>
            <a:ext cx="11368735" cy="4663441"/>
          </a:xfrm>
          <a:prstGeom prst="roundRect">
            <a:avLst/>
          </a:prstGeom>
          <a:solidFill>
            <a:srgbClr val="1E1E2E"/>
          </a:solidFill>
          <a:ln w="9525">
            <a:solidFill>
              <a:srgbClr val="4C8B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201168" rIns="137160" tIns="109728" bIns="9144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DD6F4"/>
                </a:solidFill>
                <a:latin typeface="Consolas"/>
              </a:rPr>
              <a:t>    def _rule_high_value_refund_pre(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DD6F4"/>
                </a:solidFill>
                <a:latin typeface="Consolas"/>
              </a:rPr>
              <a:t>        self,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DD6F4"/>
                </a:solidFill>
                <a:latin typeface="Consolas"/>
              </a:rPr>
              <a:t>        message: str,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DD6F4"/>
                </a:solidFill>
                <a:latin typeface="Consolas"/>
              </a:rPr>
              <a:t>        customer_id: str,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DD6F4"/>
                </a:solidFill>
                <a:latin typeface="Consolas"/>
              </a:rPr>
              <a:t>        **_,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09728" wrap="square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Layer 2 — the payment tool refuses at disbursement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4C8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554919" y="301752"/>
            <a:ext cx="1316736" cy="384048"/>
          </a:xfrm>
          <a:prstGeom prst="roundRect">
            <a:avLst/>
          </a:prstGeom>
          <a:solidFill>
            <a:srgbClr val="4C8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BUSINESS KPI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143000"/>
            <a:ext cx="1136873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1">
                <a:solidFill>
                  <a:srgbClr val="555B66"/>
                </a:solidFill>
                <a:latin typeface="Calibri"/>
              </a:rPr>
              <a:t>process_refund() calls this before any money moves. Both sides converted to Decimal — no float rounding on a rupee. Raises a typed error the handler turns into a specialist case, not a crash.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874519"/>
            <a:ext cx="11368735" cy="4663441"/>
          </a:xfrm>
          <a:prstGeom prst="roundRect">
            <a:avLst/>
          </a:prstGeom>
          <a:solidFill>
            <a:srgbClr val="1E1E2E"/>
          </a:solidFill>
          <a:ln w="9525">
            <a:solidFill>
              <a:srgbClr val="4C8B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201168" rIns="137160" tIns="109728" bIns="9144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DD6F4"/>
                </a:solidFill>
                <a:latin typeface="Consolas"/>
              </a:rPr>
              <a:t>    def _enforce_threshold(self, amount_inr: float, order_id: str, customer_id: str) -&gt; None: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DD6F4"/>
                </a:solidFill>
                <a:latin typeface="Consolas"/>
              </a:rPr>
              <a:t>        # Layer 2 of 3: never remove or weaken without a compliance review.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DD6F4"/>
                </a:solidFill>
                <a:latin typeface="Consolas"/>
              </a:rPr>
              <a:t>        limit = self._config.get("auto_refund_limit_inr", AUTO_REFUND_LIMIT_INR)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DD6F4"/>
                </a:solidFill>
                <a:latin typeface="Consolas"/>
              </a:rPr>
              <a:t>        if to_decimal(amount_inr) &gt; to_decimal(limit):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DD6F4"/>
                </a:solidFill>
                <a:latin typeface="Consolas"/>
              </a:rPr>
              <a:t>            logger.warning(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DD6F4"/>
                </a:solidFill>
                <a:latin typeface="Consolas"/>
              </a:rPr>
              <a:t>                "THRESHOLD EXCEEDED | order=%s | customer=%s | 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DD6F4"/>
                </a:solidFill>
                <a:latin typeface="Consolas"/>
              </a:rPr>
              <a:t>                "amount=%.2f | limit=%.2f — BLOCKING autonomous refund",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DD6F4"/>
                </a:solidFill>
                <a:latin typeface="Consolas"/>
              </a:rPr>
              <a:t>                order_id, customer_id, amount_inr, limit,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DD6F4"/>
                </a:solidFill>
                <a:latin typeface="Consolas"/>
              </a:rPr>
              <a:t>            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DD6F4"/>
                </a:solidFill>
                <a:latin typeface="Consolas"/>
              </a:rPr>
              <a:t>            raise RefundThresholdError(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DD6F4"/>
                </a:solidFill>
                <a:latin typeface="Consolas"/>
              </a:rPr>
              <a:t>                f"Refund of ₹{amount_inr:,.2f} for order '{order_id}' 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DD6F4"/>
                </a:solidFill>
                <a:latin typeface="Consolas"/>
              </a:rPr>
              <a:t>                "requires specialist review and cannot be processed automatically."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DD6F4"/>
                </a:solidFill>
                <a:latin typeface="Consolas"/>
              </a:rPr>
              <a:t>            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09728" wrap="square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Layer 3 — GR-004 inspects what actually moved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4C8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554919" y="301752"/>
            <a:ext cx="1316736" cy="384048"/>
          </a:xfrm>
          <a:prstGeom prst="roundRect">
            <a:avLst/>
          </a:prstGeom>
          <a:solidFill>
            <a:srgbClr val="4C8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BUSINESS KPI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143000"/>
            <a:ext cx="1136873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1">
                <a:solidFill>
                  <a:srgbClr val="555B66"/>
                </a:solidFill>
                <a:latin typeface="Calibri"/>
              </a:rPr>
              <a:t>Rewritten after a false positive: refunding ₹18k on one order while escalating ₹42k on another is CORRECT — the old rule blocked it. Now it checks a single over-limit disbursement directly.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874519"/>
            <a:ext cx="11368735" cy="4663441"/>
          </a:xfrm>
          <a:prstGeom prst="roundRect">
            <a:avLst/>
          </a:prstGeom>
          <a:solidFill>
            <a:srgbClr val="1E1E2E"/>
          </a:solidFill>
          <a:ln w="9525">
            <a:solidFill>
              <a:srgbClr val="4C8B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201168" rIns="137160" tIns="109728" bIns="9144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DD6F4"/>
                </a:solidFill>
                <a:latin typeface="Consolas"/>
              </a:rPr>
              <a:t>    def _rule_no_over_limit_refund(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DD6F4"/>
                </a:solidFill>
                <a:latin typeface="Consolas"/>
              </a:rPr>
              <a:t>        self,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DD6F4"/>
                </a:solidFill>
                <a:latin typeface="Consolas"/>
              </a:rPr>
              <a:t>        execution_summary: list[dict],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09728" wrap="square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Cancel / refund atomicity — never cancel without a refund trace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4C8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554919" y="301752"/>
            <a:ext cx="1316736" cy="384048"/>
          </a:xfrm>
          <a:prstGeom prst="roundRect">
            <a:avLst/>
          </a:prstGeom>
          <a:solidFill>
            <a:srgbClr val="4C8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BUSINESS KPI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34440"/>
            <a:ext cx="11185855" cy="525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800" b="1" i="0">
                <a:solidFill>
                  <a:srgbClr val="20242B"/>
                </a:solidFill>
                <a:latin typeface="Calibri"/>
              </a:rPr>
              <a:t>•  Found by inspecting live data: one order had 3 cancelled items but only 2 refund records — an item cancelled, nothing refunded, no trace. Unrecoverable.</a:t>
            </a:r>
          </a:p>
          <a:p>
            <a:pPr>
              <a:spcAft>
                <a:spcPts val="1100"/>
              </a:spcAft>
            </a:pPr>
            <a:r>
              <a:rPr sz="1800" b="0" i="0">
                <a:solidFill>
                  <a:srgbClr val="20242B"/>
                </a:solidFill>
                <a:latin typeface="Calibri"/>
              </a:rPr>
              <a:t>•  Root cause was ordering: it cancelled first, then refunded. A gateway decline or dropped session in between lost the refund.</a:t>
            </a:r>
          </a:p>
          <a:p>
            <a:pPr>
              <a:spcAft>
                <a:spcPts val="1100"/>
              </a:spcAft>
            </a:pPr>
            <a:r>
              <a:rPr sz="1800" b="1" i="0">
                <a:solidFill>
                  <a:srgbClr val="20242B"/>
                </a:solidFill>
                <a:latin typeface="Calibri"/>
              </a:rPr>
              <a:t>•  Fix = reverse the transaction order: secure the refund TRACE first, commit the cancellation second.</a:t>
            </a:r>
          </a:p>
          <a:p>
            <a:pPr>
              <a:spcAft>
                <a:spcPts val="1100"/>
              </a:spcAft>
            </a:pPr>
            <a:r>
              <a:rPr sz="1800" b="0" i="0">
                <a:solidFill>
                  <a:srgbClr val="20242B"/>
                </a:solidFill>
                <a:latin typeface="Calibri"/>
              </a:rPr>
              <a:t>•  If the refund fails for any reason → return immediately, order untouched. No trace, no cancel — the safe failure.</a:t>
            </a:r>
          </a:p>
          <a:p>
            <a:pPr>
              <a:spcAft>
                <a:spcPts val="1100"/>
              </a:spcAft>
            </a:pPr>
            <a:r>
              <a:rPr sz="1800" b="0" i="0">
                <a:solidFill>
                  <a:srgbClr val="20242B"/>
                </a:solidFill>
                <a:latin typeface="Calibri"/>
              </a:rPr>
              <a:t>•  Worst case degrades from "cancelled, money gone, no record" (unrecoverable) → "refund recorded, item still active" (a human can reconcile).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09728" wrap="square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...and the follow-up bug the fix created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4C8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554919" y="301752"/>
            <a:ext cx="1316736" cy="384048"/>
          </a:xfrm>
          <a:prstGeom prst="roundRect">
            <a:avLst/>
          </a:prstGeom>
          <a:solidFill>
            <a:srgbClr val="4C8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BUSINESS KPI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143000"/>
            <a:ext cx="1136873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1">
                <a:solidFill>
                  <a:srgbClr val="555B66"/>
                </a:solidFill>
                <a:latin typeface="Calibri"/>
              </a:rPr>
              <a:t>Re-running the battery: the reorder refunded FIRST, then cancel_item refused a shipped order — a refund paid for an item that was never cancellable. Fix = a deterministic status pre-check, before any money moves.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920240"/>
            <a:ext cx="11368735" cy="2468880"/>
          </a:xfrm>
          <a:prstGeom prst="roundRect">
            <a:avLst/>
          </a:prstGeom>
          <a:solidFill>
            <a:srgbClr val="1E1E2E"/>
          </a:solidFill>
          <a:ln w="9525">
            <a:solidFill>
              <a:srgbClr val="4C8B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201168" rIns="137160" tIns="109728" bIns="9144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DD6F4"/>
                </a:solidFill>
                <a:latin typeface="Consolas"/>
              </a:rPr>
              <a:t>    # Order-status guard BEFORE any refund. Cancellation is valid only for placed/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DD6F4"/>
                </a:solidFill>
                <a:latin typeface="Consolas"/>
              </a:rPr>
              <a:t>    # processing orders. OmsTool.cancel_item enforces this too, but the atomicity block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DD6F4"/>
                </a:solidFill>
                <a:latin typeface="Consolas"/>
              </a:rPr>
              <a:t>    # below secures the refund trace FIRST and commits the cancel SECOND — so without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DD6F4"/>
                </a:solidFill>
                <a:latin typeface="Consolas"/>
              </a:rPr>
              <a:t>    # this pre-check a shipped/delivered item would be auto-refunded and only THEN fail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DD6F4"/>
                </a:solidFill>
                <a:latin typeface="Consolas"/>
              </a:rPr>
              <a:t>    # to cancel, leaking a refund for an item that can't be cancelled.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DD6F4"/>
                </a:solidFill>
                <a:latin typeface="Consolas"/>
              </a:rPr>
              <a:t>    if order.get("status") not in _CANCELLABLE_STATUSES: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DD6F4"/>
                </a:solidFill>
                <a:latin typeface="Consolas"/>
              </a:rPr>
              <a:t>        return {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DD6F4"/>
                </a:solidFill>
                <a:latin typeface="Consolas"/>
              </a:rPr>
              <a:t>            "error": (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4572000"/>
            <a:ext cx="11368735" cy="1371600"/>
          </a:xfrm>
          <a:prstGeom prst="roundRect">
            <a:avLst/>
          </a:prstGeom>
          <a:solidFill>
            <a:srgbClr val="1E1E2E"/>
          </a:solidFill>
          <a:ln w="9525">
            <a:solidFill>
              <a:srgbClr val="4C8B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201168" rIns="137160" tIns="109728" bIns="9144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DD6F4"/>
                </a:solidFill>
                <a:latin typeface="Consolas"/>
              </a:rPr>
              <a:t>_CANCELLABLE_STATUSES = frozenset({"placed", "processing"})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DD6F4"/>
                </a:solidFill>
                <a:latin typeface="Consolas"/>
              </a:rPr>
              <a:t># defined once near the top so handler + confirmation classifier can't drift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DD6F4"/>
                </a:solidFill>
                <a:latin typeface="Consolas"/>
              </a:rPr>
              <a:t># regression test: test_cancel_non_cancellable_order_does_not_refund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09728" wrap="square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Code-enforced confirmation — don't trust the prompt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4C8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746943" y="301752"/>
            <a:ext cx="1124712" cy="384048"/>
          </a:xfrm>
          <a:prstGeom prst="roundRect">
            <a:avLst/>
          </a:prstGeom>
          <a:solidFill>
            <a:srgbClr val="4C8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143000"/>
            <a:ext cx="1136873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1">
                <a:solidFill>
                  <a:srgbClr val="555B66"/>
                </a:solidFill>
                <a:latin typeface="Calibri"/>
              </a:rPr>
              <a:t>Under a deliberately weaker model, a prompt-only "ask first" was skipped — an ₹18k item cancelled with no confirmation. Now one predicate is the single source of truth, enforced in BOTH directions.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874519"/>
            <a:ext cx="11368735" cy="4663441"/>
          </a:xfrm>
          <a:prstGeom prst="roundRect">
            <a:avLst/>
          </a:prstGeom>
          <a:solidFill>
            <a:srgbClr val="1E1E2E"/>
          </a:solidFill>
          <a:ln w="9525">
            <a:solidFill>
              <a:srgbClr val="4C8B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201168" rIns="137160" tIns="109728" bIns="9144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DD6F4"/>
                </a:solidFill>
                <a:latin typeface="Consolas"/>
              </a:rPr>
              <a:t>def _cancel_needs_confirmation(order: dict, line_id: int):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DD6F4"/>
                </a:solidFill>
                <a:latin typeface="Consolas"/>
              </a:rPr>
              <a:t>    """Should a cancel of this line be gated behind an explicit confirmation?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DD6F4"/>
                </a:solidFill>
                <a:latin typeface="Consolas"/>
              </a:rPr>
              <a:t>      True  -&gt; high-value (&gt; Rs.5,000) OR ambiguous (a near-duplicate active sibling)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DD6F4"/>
                </a:solidFill>
                <a:latin typeface="Consolas"/>
              </a:rPr>
              <a:t>      False -&gt; safe to execute directly (low-value, unambiguous)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DD6F4"/>
                </a:solidFill>
                <a:latin typeface="Consolas"/>
              </a:rPr>
              <a:t>      None  -&gt; can't tell: item missing/already-cancelled, bad price, or the order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DD6F4"/>
                </a:solidFill>
                <a:latin typeface="Consolas"/>
              </a:rPr>
              <a:t>               isn't cancellable (let cancel_item return its proper error instead).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DD6F4"/>
                </a:solidFill>
                <a:latin typeface="Consolas"/>
              </a:rPr>
              <a:t>    """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DD6F4"/>
                </a:solidFill>
                <a:latin typeface="Consolas"/>
              </a:rPr>
              <a:t>    if order.get("status") not in _CANCELLABLE_STATUSES: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DD6F4"/>
                </a:solidFill>
                <a:latin typeface="Consolas"/>
              </a:rPr>
              <a:t>        return None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DD6F4"/>
                </a:solidFill>
                <a:latin typeface="Consolas"/>
              </a:rPr>
              <a:t>    target = next((i for i in order.get("items", []) if i.get("line_id") == line_id), None)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DD6F4"/>
                </a:solidFill>
                <a:latin typeface="Consolas"/>
              </a:rPr>
              <a:t>    if target is None or target.get("status") == "cancelled":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DD6F4"/>
                </a:solidFill>
                <a:latin typeface="Consolas"/>
              </a:rPr>
              <a:t>        return None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DD6F4"/>
                </a:solidFill>
                <a:latin typeface="Consolas"/>
              </a:rPr>
              <a:t>    try: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DD6F4"/>
                </a:solidFill>
                <a:latin typeface="Consolas"/>
              </a:rPr>
              <a:t>        high_value = float(target.get("unit_price", 0)) &gt; _CONFIRMATION_UNIT_PRICE_INR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DD6F4"/>
                </a:solidFill>
                <a:latin typeface="Consolas"/>
              </a:rPr>
              <a:t>    except (TypeError, ValueError):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DD6F4"/>
                </a:solidFill>
                <a:latin typeface="Consolas"/>
              </a:rPr>
              <a:t>        return None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DD6F4"/>
                </a:solidFill>
                <a:latin typeface="Consolas"/>
              </a:rPr>
              <a:t>    return bool(high_value or _has_ambiguous_sibling(order, target))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09728" wrap="square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Safety / fraud / legal — deterministic, never the prompt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4C8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938967" y="301752"/>
            <a:ext cx="932688" cy="384048"/>
          </a:xfrm>
          <a:prstGeom prst="roundRect">
            <a:avLst/>
          </a:prstGeom>
          <a:solidFill>
            <a:srgbClr val="4C8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143000"/>
            <a:ext cx="1136873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1">
                <a:solidFill>
                  <a:srgbClr val="555B66"/>
                </a:solidFill>
                <a:latin typeface="Calibri"/>
              </a:rPr>
              <a:t>A fraud report must reach a human, not be auto-resolved. Made code because a prompt-only escalation rule is exactly what prompt injection defeats. Pure function → trivially unit-tested.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143000"/>
            <a:ext cx="5547207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 i="1">
                <a:solidFill>
                  <a:srgbClr val="555B66"/>
                </a:solidFill>
                <a:latin typeface="Calibri"/>
              </a:rPr>
              <a:t>patterns (3 labelled groups)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70167" y="1143000"/>
            <a:ext cx="5547207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 i="1">
                <a:solidFill>
                  <a:srgbClr val="555B66"/>
                </a:solidFill>
                <a:latin typeface="Calibri"/>
              </a:rPr>
              <a:t>detector (pure, side-effect-free)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1783080"/>
            <a:ext cx="5547207" cy="4754880"/>
          </a:xfrm>
          <a:prstGeom prst="roundRect">
            <a:avLst/>
          </a:prstGeom>
          <a:solidFill>
            <a:srgbClr val="1E1E2E"/>
          </a:solidFill>
          <a:ln w="9525">
            <a:solidFill>
              <a:srgbClr val="4C8B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201168" rIns="137160" tIns="109728" bIns="9144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DD6F4"/>
                </a:solidFill>
                <a:latin typeface="Consolas"/>
              </a:rPr>
              <a:t>_SAFETY_ESCALATION_PATTERNS: list[tuple[str, re.Pattern]] = [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DD6F4"/>
                </a:solidFill>
                <a:latin typeface="Consolas"/>
              </a:rPr>
              <a:t>    ("fraud_or_unauthorised", re.compile(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DD6F4"/>
                </a:solidFill>
                <a:latin typeface="Consolas"/>
              </a:rPr>
              <a:t>        r"\b(fraud(?:ulent)?|unauthor(?:ised|ized)"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DD6F4"/>
                </a:solidFill>
                <a:latin typeface="Consolas"/>
              </a:rPr>
              <a:t>        r"|did(?:n['’]?t| not)\s+(?:place|order|authori[sz]e)"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70167" y="1783080"/>
            <a:ext cx="5547207" cy="4754880"/>
          </a:xfrm>
          <a:prstGeom prst="roundRect">
            <a:avLst/>
          </a:prstGeom>
          <a:solidFill>
            <a:srgbClr val="1E1E2E"/>
          </a:solidFill>
          <a:ln w="9525">
            <a:solidFill>
              <a:srgbClr val="4C8B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201168" rIns="137160" tIns="109728" bIns="9144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DD6F4"/>
                </a:solidFill>
                <a:latin typeface="Consolas"/>
              </a:rPr>
              <a:t>def detect_safety_escalation(message: str) -&gt; str | None: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DD6F4"/>
                </a:solidFill>
                <a:latin typeface="Consolas"/>
              </a:rPr>
              <a:t>    """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DD6F4"/>
                </a:solidFill>
                <a:latin typeface="Consolas"/>
              </a:rPr>
              <a:t>    Return a category label if the message contains a high-severity safety,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DD6F4"/>
                </a:solidFill>
                <a:latin typeface="Consolas"/>
              </a:rPr>
              <a:t>    fraud, or legal signal that must be escalated to a specialist and never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DD6F4"/>
                </a:solidFill>
                <a:latin typeface="Consolas"/>
              </a:rPr>
              <a:t>    resolved autonomously. Returns None otherwise. Pure function, no side effects.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DD6F4"/>
                </a:solidFill>
                <a:latin typeface="Consolas"/>
              </a:rPr>
              <a:t>    """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DD6F4"/>
                </a:solidFill>
                <a:latin typeface="Consolas"/>
              </a:rPr>
              <a:t>    if not message: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DD6F4"/>
                </a:solidFill>
                <a:latin typeface="Consolas"/>
              </a:rPr>
              <a:t>        return None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DD6F4"/>
                </a:solidFill>
                <a:latin typeface="Consolas"/>
              </a:rPr>
              <a:t>    for label, pattern in _SAFETY_ESCALATION_PATTERNS: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DD6F4"/>
                </a:solidFill>
                <a:latin typeface="Consolas"/>
              </a:rPr>
              <a:t>        if pattern.search(message):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DD6F4"/>
                </a:solidFill>
                <a:latin typeface="Consolas"/>
              </a:rPr>
              <a:t>            return label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DD6F4"/>
                </a:solidFill>
                <a:latin typeface="Consolas"/>
              </a:rPr>
              <a:t>    return None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09728" wrap="square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Security — ownership is the chokepoint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4C8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938967" y="301752"/>
            <a:ext cx="932688" cy="384048"/>
          </a:xfrm>
          <a:prstGeom prst="roundRect">
            <a:avLst/>
          </a:prstGeom>
          <a:solidFill>
            <a:srgbClr val="4C8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143000"/>
            <a:ext cx="1136873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1">
                <a:solidFill>
                  <a:srgbClr val="555B66"/>
                </a:solidFill>
                <a:latin typeface="Calibri"/>
              </a:rPr>
              <a:t>The most important security property, in nine lines. Every order-touching tool — get_order, cancel_item, process_refund, update_address, create_crm_case, escalate — fetches through this one function.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920240"/>
            <a:ext cx="11368735" cy="2743200"/>
          </a:xfrm>
          <a:prstGeom prst="roundRect">
            <a:avLst/>
          </a:prstGeom>
          <a:solidFill>
            <a:srgbClr val="1E1E2E"/>
          </a:solidFill>
          <a:ln w="9525">
            <a:solidFill>
              <a:srgbClr val="4C8B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201168" rIns="137160" tIns="109728" bIns="9144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DD6F4"/>
                </a:solidFill>
                <a:latin typeface="Consolas"/>
              </a:rPr>
              <a:t>def _assert_ownership(order_customer_id: str, session_customer_id: str, order_id: str) -&gt; None: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DD6F4"/>
                </a:solidFill>
                <a:latin typeface="Consolas"/>
              </a:rPr>
              <a:t>    if order_customer_id != session_customer_id: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DD6F4"/>
                </a:solidFill>
                <a:latin typeface="Consolas"/>
              </a:rPr>
              <a:t>        raise OwnershipError(f"Order {order_id} not found for the current session.")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DD6F4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DD6F4"/>
                </a:solidFill>
                <a:latin typeface="Consolas"/>
              </a:rPr>
              <a:t>async def _fetch_owned_order(oid: str, customer_id: str) -&gt; dict: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DD6F4"/>
                </a:solidFill>
                <a:latin typeface="Consolas"/>
              </a:rPr>
              <a:t>    """Fetch an order and assert the session customer owns it."""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DD6F4"/>
                </a:solidFill>
                <a:latin typeface="Consolas"/>
              </a:rPr>
              <a:t>    order = await _oms.get_order(oid)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DD6F4"/>
                </a:solidFill>
                <a:latin typeface="Consolas"/>
              </a:rPr>
              <a:t>    _assert_ownership(order["customer_id"], customer_id, oid)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DD6F4"/>
                </a:solidFill>
                <a:latin typeface="Consolas"/>
              </a:rPr>
              <a:t>    return order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846320"/>
            <a:ext cx="1118585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20242B"/>
                </a:solidFill>
                <a:latin typeface="Calibri"/>
              </a:rPr>
              <a:t>•  "not found for the current session" — we don't even confirm the order exists to a stranger.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0242B"/>
                </a:solidFill>
                <a:latin typeface="Calibri"/>
              </a:rPr>
              <a:t>•  Closed an earlier hole: create_crm_case now runs this check too, so every order path is consistent.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09728" wrap="square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Input redaction — the mirror image of output scrubbing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4C8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746943" y="301752"/>
            <a:ext cx="1124712" cy="384048"/>
          </a:xfrm>
          <a:prstGeom prst="roundRect">
            <a:avLst/>
          </a:prstGeom>
          <a:solidFill>
            <a:srgbClr val="4C8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COMPLIANCE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143000"/>
            <a:ext cx="1136873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1">
                <a:solidFill>
                  <a:srgbClr val="555B66"/>
                </a:solidFill>
                <a:latin typeface="Calibri"/>
              </a:rPr>
              <a:t>Customers paste cards, CVVs, emails, phones. Without this they'd land in history, the provider request, and trace logs. The careful part: a card is masked only if 13–19 digits AND passes Luhn.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874519"/>
            <a:ext cx="11368735" cy="4663441"/>
          </a:xfrm>
          <a:prstGeom prst="roundRect">
            <a:avLst/>
          </a:prstGeom>
          <a:solidFill>
            <a:srgbClr val="1E1E2E"/>
          </a:solidFill>
          <a:ln w="9525">
            <a:solidFill>
              <a:srgbClr val="4C8B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201168" rIns="137160" tIns="109728" bIns="9144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DD6F4"/>
                </a:solidFill>
                <a:latin typeface="Consolas"/>
              </a:rPr>
              <a:t>_CARD_RE  = re.compile(r"\b\d(?:[ -]?\d){12,18}\b")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DD6F4"/>
                </a:solidFill>
                <a:latin typeface="Consolas"/>
              </a:rPr>
              <a:t># CVV: only when a context word makes it unambiguous (avoids masking any 3–4 digits).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DD6F4"/>
                </a:solidFill>
                <a:latin typeface="Consolas"/>
              </a:rPr>
              <a:t>_CVV_RE   = re.compile(r"\b(?:cvv|cvc|cvv2|security\s*code)\b\s*[:#-]?\s*\d{3,4}\b",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DD6F4"/>
                </a:solidFill>
                <a:latin typeface="Consolas"/>
              </a:rPr>
              <a:t>                       re.IGNORECASE)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DD6F4"/>
                </a:solidFill>
                <a:latin typeface="Consolas"/>
              </a:rPr>
              <a:t>_EMAIL_RE = re.compile(r"\b[A-Za-z0-9._%+-]+@[A-Za-z0-9.-]+\.[A-Za-z]{2,}\b")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DD6F4"/>
                </a:solidFill>
                <a:latin typeface="Consolas"/>
              </a:rPr>
              <a:t># Indian mobile: optional +91, then a 10-digit number starting 6–9. The negative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DD6F4"/>
                </a:solidFill>
                <a:latin typeface="Consolas"/>
              </a:rPr>
              <a:t># look-arounds stop it matching inside a longer digit run.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DD6F4"/>
                </a:solidFill>
                <a:latin typeface="Consolas"/>
              </a:rPr>
              <a:t>_PHONE_RE = re.compile(r"(?&lt;!\d)(?:\+?91[\s-]?)?[6-9]\d{9}(?!\d)")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DD6F4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DD6F4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DD6F4"/>
                </a:solidFill>
                <a:latin typeface="Consolas"/>
              </a:rPr>
              <a:t>def _luhn_ok(digits: str) -&gt; bool: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DD6F4"/>
                </a:solidFill>
                <a:latin typeface="Consolas"/>
              </a:rPr>
              <a:t>    """Luhn checksum — true for valid payment-card numbers. Keeps the card regex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DD6F4"/>
                </a:solidFill>
                <a:latin typeface="Consolas"/>
              </a:rPr>
              <a:t>    from masking arbitrary long digit strings that aren't cards."""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DD6F4"/>
                </a:solidFill>
                <a:latin typeface="Consolas"/>
              </a:rPr>
              <a:t>    total, alt = 0, False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DD6F4"/>
                </a:solidFill>
                <a:latin typeface="Consolas"/>
              </a:rPr>
              <a:t>    for ch in reversed(digits):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DD6F4"/>
                </a:solidFill>
                <a:latin typeface="Consolas"/>
              </a:rPr>
              <a:t>        if not ch.isdigit():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DD6F4"/>
                </a:solidFill>
                <a:latin typeface="Consolas"/>
              </a:rPr>
              <a:t>            return False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DD6F4"/>
                </a:solidFill>
                <a:latin typeface="Consolas"/>
              </a:rPr>
              <a:t>        d = ord(ch) - 48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DD6F4"/>
                </a:solidFill>
                <a:latin typeface="Consolas"/>
              </a:rPr>
              <a:t>        if alt: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DD6F4"/>
                </a:solidFill>
                <a:latin typeface="Consolas"/>
              </a:rPr>
              <a:t>            d *= 2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DD6F4"/>
                </a:solidFill>
                <a:latin typeface="Consolas"/>
              </a:rPr>
              <a:t>            if d &gt; 9: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DD6F4"/>
                </a:solidFill>
                <a:latin typeface="Consolas"/>
              </a:rPr>
              <a:t>                d -= 9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DD6F4"/>
                </a:solidFill>
                <a:latin typeface="Consolas"/>
              </a:rPr>
              <a:t>        total += d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DD6F4"/>
                </a:solidFill>
                <a:latin typeface="Consolas"/>
              </a:rPr>
              <a:t>        alt = not alt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DD6F4"/>
                </a:solidFill>
                <a:latin typeface="Consolas"/>
              </a:rPr>
              <a:t>    return total % 10 == 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09728" wrap="square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Input redaction — deterministic, idempotent, the front door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4C8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746943" y="301752"/>
            <a:ext cx="1124712" cy="384048"/>
          </a:xfrm>
          <a:prstGeom prst="roundRect">
            <a:avLst/>
          </a:prstGeom>
          <a:solidFill>
            <a:srgbClr val="4C8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COMPLIANCE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143000"/>
            <a:ext cx="1136873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1">
                <a:solidFill>
                  <a:srgbClr val="555B66"/>
                </a:solidFill>
                <a:latin typeface="Calibri"/>
              </a:rPr>
              <a:t>Pure function, no model in the loop — it can't be prompted around. The node masks the raw message and appends only the MASKED copy to the conversation channel, so planner/responder/checkpointer never see the original.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143000"/>
            <a:ext cx="5547207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 i="1">
                <a:solidFill>
                  <a:srgbClr val="555B66"/>
                </a:solidFill>
                <a:latin typeface="Calibri"/>
              </a:rPr>
              <a:t>guardrails.py::redact_sensitive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70167" y="1143000"/>
            <a:ext cx="5547207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 i="1">
                <a:solidFill>
                  <a:srgbClr val="555B66"/>
                </a:solidFill>
                <a:latin typeface="Calibri"/>
              </a:rPr>
              <a:t>graph.py::input_redaction_node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1783080"/>
            <a:ext cx="5547207" cy="4754880"/>
          </a:xfrm>
          <a:prstGeom prst="roundRect">
            <a:avLst/>
          </a:prstGeom>
          <a:solidFill>
            <a:srgbClr val="1E1E2E"/>
          </a:solidFill>
          <a:ln w="9525">
            <a:solidFill>
              <a:srgbClr val="4C8B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201168" rIns="137160" tIns="109728" bIns="9144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CDD6F4"/>
                </a:solidFill>
                <a:latin typeface="Consolas"/>
              </a:rPr>
              <a:t>def redact_sensitive(text: str) -&gt; tuple[str, list[str]]: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CDD6F4"/>
                </a:solidFill>
                <a:latin typeface="Consolas"/>
              </a:rPr>
              <a:t>    """Mask card numbers, CVVs, emails, and phone numbers in `text`.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CDD6F4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CDD6F4"/>
                </a:solidFill>
                <a:latin typeface="Consolas"/>
              </a:rPr>
              <a:t>    Returns (redacted_text, kinds_found) where kinds_found is the de-duplicated,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CDD6F4"/>
                </a:solidFill>
                <a:latin typeface="Consolas"/>
              </a:rPr>
              <a:t>    sorted list of categories that were masked (e.g. ['card', 'email']). Pure and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CDD6F4"/>
                </a:solidFill>
                <a:latin typeface="Consolas"/>
              </a:rPr>
              <a:t>    idempotent — re-running on already-redacted text is a no-op.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CDD6F4"/>
                </a:solidFill>
                <a:latin typeface="Consolas"/>
              </a:rPr>
              <a:t>    """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CDD6F4"/>
                </a:solidFill>
                <a:latin typeface="Consolas"/>
              </a:rPr>
              <a:t>    if not text: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CDD6F4"/>
                </a:solidFill>
                <a:latin typeface="Consolas"/>
              </a:rPr>
              <a:t>        return text, []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CDD6F4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CDD6F4"/>
                </a:solidFill>
                <a:latin typeface="Consolas"/>
              </a:rPr>
              <a:t>    found: set[str] = set()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CDD6F4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CDD6F4"/>
                </a:solidFill>
                <a:latin typeface="Consolas"/>
              </a:rPr>
              <a:t>    def _cvv(_m):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CDD6F4"/>
                </a:solidFill>
                <a:latin typeface="Consolas"/>
              </a:rPr>
              <a:t>        found.add("cvv")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CDD6F4"/>
                </a:solidFill>
                <a:latin typeface="Consolas"/>
              </a:rPr>
              <a:t>        return "[REDACTED_CVV]"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CDD6F4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CDD6F4"/>
                </a:solidFill>
                <a:latin typeface="Consolas"/>
              </a:rPr>
              <a:t>    def _card(m):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CDD6F4"/>
                </a:solidFill>
                <a:latin typeface="Consolas"/>
              </a:rPr>
              <a:t>        digits = re.sub(r"\D", "", m.group())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CDD6F4"/>
                </a:solidFill>
                <a:latin typeface="Consolas"/>
              </a:rPr>
              <a:t>        if 13 &lt;= len(digits) &lt;= 19 and _luhn_ok(digits):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CDD6F4"/>
                </a:solidFill>
                <a:latin typeface="Consolas"/>
              </a:rPr>
              <a:t>            found.add("card")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CDD6F4"/>
                </a:solidFill>
                <a:latin typeface="Consolas"/>
              </a:rPr>
              <a:t>            return "[REDACTED_CARD]"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CDD6F4"/>
                </a:solidFill>
                <a:latin typeface="Consolas"/>
              </a:rPr>
              <a:t>        return m.group()  # not a real card — leave untouched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CDD6F4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CDD6F4"/>
                </a:solidFill>
                <a:latin typeface="Consolas"/>
              </a:rPr>
              <a:t>    def _email(_m):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CDD6F4"/>
                </a:solidFill>
                <a:latin typeface="Consolas"/>
              </a:rPr>
              <a:t>        found.add("email")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CDD6F4"/>
                </a:solidFill>
                <a:latin typeface="Consolas"/>
              </a:rPr>
              <a:t>        return "[REDACTED_EMAIL]"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CDD6F4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CDD6F4"/>
                </a:solidFill>
                <a:latin typeface="Consolas"/>
              </a:rPr>
              <a:t>    def _phone(_m):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CDD6F4"/>
                </a:solidFill>
                <a:latin typeface="Consolas"/>
              </a:rPr>
              <a:t>        found.add("phone")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CDD6F4"/>
                </a:solidFill>
                <a:latin typeface="Consolas"/>
              </a:rPr>
              <a:t>        return "[REDACTED_PHONE]"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CDD6F4"/>
                </a:solidFill>
                <a:latin typeface="Consolas"/>
              </a:rPr>
              <a:t>        # ... (continues in source)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70167" y="1783080"/>
            <a:ext cx="5547207" cy="4754880"/>
          </a:xfrm>
          <a:prstGeom prst="roundRect">
            <a:avLst/>
          </a:prstGeom>
          <a:solidFill>
            <a:srgbClr val="1E1E2E"/>
          </a:solidFill>
          <a:ln w="9525">
            <a:solidFill>
              <a:srgbClr val="4C8B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201168" rIns="137160" tIns="109728" bIns="9144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DD6F4"/>
                </a:solidFill>
                <a:latin typeface="Consolas"/>
              </a:rPr>
              <a:t>async def input_redaction_node(state: AtlasCareState, config) -&gt; dict: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DD6F4"/>
                </a:solidFill>
                <a:latin typeface="Consolas"/>
              </a:rPr>
              <a:t>    """Compliance gate — the true entry point. Deterministically masks sensitive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DD6F4"/>
                </a:solidFill>
                <a:latin typeface="Consolas"/>
              </a:rPr>
              <a:t>    data (card numbers, CVVs, emails, phones) in the customer's message BEFORE it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DD6F4"/>
                </a:solidFill>
                <a:latin typeface="Consolas"/>
              </a:rPr>
              <a:t>    enters the conversation history, reaches the LLM, or is checkpointed. AtlasCare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DD6F4"/>
                </a:solidFill>
                <a:latin typeface="Consolas"/>
              </a:rPr>
              <a:t>    never needs this data to service an order, so masking it is a safe PCI/PII control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DD6F4"/>
                </a:solidFill>
                <a:latin typeface="Consolas"/>
              </a:rPr>
              <a:t>    that no prompt can defeat. The raw message arrives via `incoming_message`; the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DD6F4"/>
                </a:solidFill>
                <a:latin typeface="Consolas"/>
              </a:rPr>
              <a:t>    redacted copy is appended to `messages` (the append-only channel) so every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DD6F4"/>
                </a:solidFill>
                <a:latin typeface="Consolas"/>
              </a:rPr>
              <a:t>    downstream consumer only ever sees the masked text.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DD6F4"/>
                </a:solidFill>
                <a:latin typeface="Consolas"/>
              </a:rPr>
              <a:t>    """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DD6F4"/>
                </a:solidFill>
                <a:latin typeface="Consolas"/>
              </a:rPr>
              <a:t>    tracer: Tracer = config["configurable"]["tracer"]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DD6F4"/>
                </a:solidFill>
                <a:latin typeface="Consolas"/>
              </a:rPr>
              <a:t>    raw = state.get("incoming_message", "") or ""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DD6F4"/>
                </a:solidFill>
                <a:latin typeface="Consolas"/>
              </a:rPr>
              <a:t>    redacted, found = redact_sensitive(raw)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DD6F4"/>
                </a:solidFill>
                <a:latin typeface="Consolas"/>
              </a:rPr>
              <a:t>    if found: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DD6F4"/>
                </a:solidFill>
                <a:latin typeface="Consolas"/>
              </a:rPr>
              <a:t>        logger.info("Input redaction masked sensitive data | types=%s", found)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DD6F4"/>
                </a:solidFill>
                <a:latin typeface="Consolas"/>
              </a:rPr>
              <a:t>        tracer.record_tool_call("input_redaction", "redact", "success", {"types": found})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DD6F4"/>
                </a:solidFill>
                <a:latin typeface="Consolas"/>
              </a:rPr>
              <a:t>    return {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DD6F4"/>
                </a:solidFill>
                <a:latin typeface="Consolas"/>
              </a:rPr>
              <a:t>        "messages":         [{"role": "user", "content": redacted}],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DD6F4"/>
                </a:solidFill>
                <a:latin typeface="Consolas"/>
              </a:rPr>
              <a:t>        "incoming_message": "",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DD6F4"/>
                </a:solidFill>
                <a:latin typeface="Consolas"/>
              </a:rPr>
              <a:t>    }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09728" wrap="square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Output scrubbing — a model slip can't leak internals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4C8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938967" y="301752"/>
            <a:ext cx="932688" cy="384048"/>
          </a:xfrm>
          <a:prstGeom prst="roundRect">
            <a:avLst/>
          </a:prstGeom>
          <a:solidFill>
            <a:srgbClr val="4C8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143000"/>
            <a:ext cx="1136873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1">
                <a:solidFill>
                  <a:srgbClr val="555B66"/>
                </a:solidFill>
                <a:latin typeface="Calibri"/>
              </a:rPr>
              <a:t>Runs deterministically over every reply: rewrites internal payment codes, strips any leaked customer ID, and excises invented refund options ("store credit") — failing SAFE by returning the original if it would garble.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874519"/>
            <a:ext cx="11368735" cy="4663441"/>
          </a:xfrm>
          <a:prstGeom prst="roundRect">
            <a:avLst/>
          </a:prstGeom>
          <a:solidFill>
            <a:srgbClr val="1E1E2E"/>
          </a:solidFill>
          <a:ln w="9525">
            <a:solidFill>
              <a:srgbClr val="4C8B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201168" rIns="137160" tIns="109728" bIns="9144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DD6F4"/>
                </a:solidFill>
                <a:latin typeface="Consolas"/>
              </a:rPr>
              <a:t>def _sanitize_response(text: str) -&gt; str: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DD6F4"/>
                </a:solidFill>
                <a:latin typeface="Consolas"/>
              </a:rPr>
              <a:t>    """Backstop for the 'never reveal internal data / never offer unsupported refund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DD6F4"/>
                </a:solidFill>
                <a:latin typeface="Consolas"/>
              </a:rPr>
              <a:t>    options' policy: strip customer IDs, render internal payment-method codes as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DD6F4"/>
                </a:solidFill>
                <a:latin typeface="Consolas"/>
              </a:rPr>
              <a:t>    human-readable names, and remove any invented refund options — even if the LLM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DD6F4"/>
                </a:solidFill>
                <a:latin typeface="Consolas"/>
              </a:rPr>
              <a:t>    ignored the prompt instructions."""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DD6F4"/>
                </a:solidFill>
                <a:latin typeface="Consolas"/>
              </a:rPr>
              <a:t>    if not text: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DD6F4"/>
                </a:solidFill>
                <a:latin typeface="Consolas"/>
              </a:rPr>
              <a:t>        return text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DD6F4"/>
                </a:solidFill>
                <a:latin typeface="Consolas"/>
              </a:rPr>
              <a:t>    for code, friendly in _INTERNAL_METHOD_LABELS.items():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DD6F4"/>
                </a:solidFill>
                <a:latin typeface="Consolas"/>
              </a:rPr>
              <a:t>        text = re.sub(rf"\b{code}\b", friendly, text)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DD6F4"/>
                </a:solidFill>
                <a:latin typeface="Consolas"/>
              </a:rPr>
              <a:t>    text = _CUSTOMER_ID_LEAK_RE.sub("", text)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DD6F4"/>
                </a:solidFill>
                <a:latin typeface="Consolas"/>
              </a:rPr>
              <a:t>    text = _scrub_invented_refund_options(text)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DD6F4"/>
                </a:solidFill>
                <a:latin typeface="Consolas"/>
              </a:rPr>
              <a:t>    # Tidy whitespace/punctuation left by redaction.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DD6F4"/>
                </a:solidFill>
                <a:latin typeface="Consolas"/>
              </a:rPr>
              <a:t>    text = re.sub(r"[ \t]{2,}", " ", text)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DD6F4"/>
                </a:solidFill>
                <a:latin typeface="Consolas"/>
              </a:rPr>
              <a:t>    text = re.sub(r"\s+([.,!?])", r"\1", text)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DD6F4"/>
                </a:solidFill>
                <a:latin typeface="Consolas"/>
              </a:rPr>
              <a:t>    return text.strip()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09728" wrap="square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Resilience &amp; scale — surviving transient failure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4C8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554919" y="301752"/>
            <a:ext cx="1316736" cy="384048"/>
          </a:xfrm>
          <a:prstGeom prst="roundRect">
            <a:avLst/>
          </a:prstGeom>
          <a:solidFill>
            <a:srgbClr val="4C8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143000"/>
            <a:ext cx="1136873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1">
                <a:solidFill>
                  <a:srgbClr val="555B66"/>
                </a:solidFill>
                <a:latin typeface="Calibri"/>
              </a:rPr>
              <a:t>Every LLM call is retried with capped exponential backoff (honouring Retry-After). The message list is a bounded reducer — an unbounded, client-supplied session is a memory-exhaustion vector.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143000"/>
            <a:ext cx="5547207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 i="1">
                <a:solidFill>
                  <a:srgbClr val="555B66"/>
                </a:solidFill>
                <a:latin typeface="Calibri"/>
              </a:rPr>
              <a:t>LLM retry wrapper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70167" y="1143000"/>
            <a:ext cx="5547207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 i="1">
                <a:solidFill>
                  <a:srgbClr val="555B66"/>
                </a:solidFill>
                <a:latin typeface="Calibri"/>
              </a:rPr>
              <a:t>bounded history + audit-never-raises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1783080"/>
            <a:ext cx="5547207" cy="4754880"/>
          </a:xfrm>
          <a:prstGeom prst="roundRect">
            <a:avLst/>
          </a:prstGeom>
          <a:solidFill>
            <a:srgbClr val="1E1E2E"/>
          </a:solidFill>
          <a:ln w="9525">
            <a:solidFill>
              <a:srgbClr val="4C8B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201168" rIns="137160" tIns="109728" bIns="9144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DD6F4"/>
                </a:solidFill>
                <a:latin typeface="Consolas"/>
              </a:rPr>
              <a:t>async def _chat_completion_with_retry(**kwargs):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DD6F4"/>
                </a:solidFill>
                <a:latin typeface="Consolas"/>
              </a:rPr>
              <a:t>    """chat.completions.create with retry/backoff on transient LLM errors."""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DD6F4"/>
                </a:solidFill>
                <a:latin typeface="Consolas"/>
              </a:rPr>
              <a:t>    last_exc: Exception | None = None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DD6F4"/>
                </a:solidFill>
                <a:latin typeface="Consolas"/>
              </a:rPr>
              <a:t>    for attempt in range(1, _LLM_MAX_RETRIES + 1):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DD6F4"/>
                </a:solidFill>
                <a:latin typeface="Consolas"/>
              </a:rPr>
              <a:t>        try: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DD6F4"/>
                </a:solidFill>
                <a:latin typeface="Consolas"/>
              </a:rPr>
              <a:t>            return await _get_groq_client().chat.completions.create(**kwargs)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DD6F4"/>
                </a:solidFill>
                <a:latin typeface="Consolas"/>
              </a:rPr>
              <a:t>        except _LLM_TRANSIENT_ERRORS as exc: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DD6F4"/>
                </a:solidFill>
                <a:latin typeface="Consolas"/>
              </a:rPr>
              <a:t>            last_exc = exc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DD6F4"/>
                </a:solidFill>
                <a:latin typeface="Consolas"/>
              </a:rPr>
              <a:t>            if attempt == _LLM_MAX_RETRIES: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DD6F4"/>
                </a:solidFill>
                <a:latin typeface="Consolas"/>
              </a:rPr>
              <a:t>                break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DD6F4"/>
                </a:solidFill>
                <a:latin typeface="Consolas"/>
              </a:rPr>
              <a:t>            delay = min(_LLM_RETRY_BASE_DELAY_S * (2 ** (attempt - 1)), _LLM_RETRY_MAX_DELAY_S)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DD6F4"/>
                </a:solidFill>
                <a:latin typeface="Consolas"/>
              </a:rPr>
              <a:t>            # Honour a provider Retry-After header when present (capped, so a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DD6F4"/>
                </a:solidFill>
                <a:latin typeface="Consolas"/>
              </a:rPr>
              <a:t>            # day-quota error with a 55s hint doesn't stall the request).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DD6F4"/>
                </a:solidFill>
                <a:latin typeface="Consolas"/>
              </a:rPr>
              <a:t>            try: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DD6F4"/>
                </a:solidFill>
                <a:latin typeface="Consolas"/>
              </a:rPr>
              <a:t>                resp = getattr(exc, "response", None)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DD6F4"/>
                </a:solidFill>
                <a:latin typeface="Consolas"/>
              </a:rPr>
              <a:t>                hdr = resp.headers.get("retry-after") if resp is not None else None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DD6F4"/>
                </a:solidFill>
                <a:latin typeface="Consolas"/>
              </a:rPr>
              <a:t>                if hdr: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DD6F4"/>
                </a:solidFill>
                <a:latin typeface="Consolas"/>
              </a:rPr>
              <a:t>                    delay = min(float(hdr), _LLM_RETRY_MAX_DELAY_S)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DD6F4"/>
                </a:solidFill>
                <a:latin typeface="Consolas"/>
              </a:rPr>
              <a:t>            except Exception: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DD6F4"/>
                </a:solidFill>
                <a:latin typeface="Consolas"/>
              </a:rPr>
              <a:t>                pass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DD6F4"/>
                </a:solidFill>
                <a:latin typeface="Consolas"/>
              </a:rPr>
              <a:t>            logger.warning(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DD6F4"/>
                </a:solidFill>
                <a:latin typeface="Consolas"/>
              </a:rPr>
              <a:t>                "LLM transient error (attempt %d/%d): %s — retrying in %.1fs",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DD6F4"/>
                </a:solidFill>
                <a:latin typeface="Consolas"/>
              </a:rPr>
              <a:t>                attempt, _LLM_MAX_RETRIES, type(exc).__name__, delay,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DD6F4"/>
                </a:solidFill>
                <a:latin typeface="Consolas"/>
              </a:rPr>
              <a:t>            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DD6F4"/>
                </a:solidFill>
                <a:latin typeface="Consolas"/>
              </a:rPr>
              <a:t>            # ... (continues in source)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70167" y="1783080"/>
            <a:ext cx="5547207" cy="4754880"/>
          </a:xfrm>
          <a:prstGeom prst="roundRect">
            <a:avLst/>
          </a:prstGeom>
          <a:solidFill>
            <a:srgbClr val="1E1E2E"/>
          </a:solidFill>
          <a:ln w="9525">
            <a:solidFill>
              <a:srgbClr val="4C8B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201168" rIns="137160" tIns="109728" bIns="9144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DD6F4"/>
                </a:solidFill>
                <a:latin typeface="Consolas"/>
              </a:rPr>
              <a:t>def _append_capped(left: list, right: list) -&gt; list: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DD6F4"/>
                </a:solidFill>
                <a:latin typeface="Consolas"/>
              </a:rPr>
              <a:t>    """Reducer: append new messages, retaining only the last N to bound memory."""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DD6F4"/>
                </a:solidFill>
                <a:latin typeface="Consolas"/>
              </a:rPr>
              <a:t>    return (left + right)[-_MAX_HISTORY_MESSAGES:]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DD6F4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DD6F4"/>
                </a:solidFill>
                <a:latin typeface="Consolas"/>
              </a:rPr>
              <a:t># _safe_audit retries 3x then logs AUDIT_FAILURE and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DD6F4"/>
                </a:solidFill>
                <a:latin typeface="Consolas"/>
              </a:rPr>
              <a:t># RETURNS — a logging error never rolls back a real refund.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09728" wrap="square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Two-tier model routing — a real cost &amp; latency lever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4C8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1323015" y="301752"/>
            <a:ext cx="548640" cy="384048"/>
          </a:xfrm>
          <a:prstGeom prst="roundRect">
            <a:avLst/>
          </a:prstGeom>
          <a:solidFill>
            <a:srgbClr val="4C8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KPIs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143000"/>
            <a:ext cx="1136873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1">
                <a:solidFill>
                  <a:srgbClr val="555B66"/>
                </a:solidFill>
                <a:latin typeface="Calibri"/>
              </a:rPr>
              <a:t>One predicate decides big model vs. small. Plain lookups finish end-to-end in &lt;3s on the cheap model; mutations/filters/multi-intent get the powerful one. Provider-portable: Llama → Gemini was env-vars only.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874519"/>
            <a:ext cx="11368735" cy="4663441"/>
          </a:xfrm>
          <a:prstGeom prst="roundRect">
            <a:avLst/>
          </a:prstGeom>
          <a:solidFill>
            <a:srgbClr val="1E1E2E"/>
          </a:solidFill>
          <a:ln w="9525">
            <a:solidFill>
              <a:srgbClr val="4C8B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201168" rIns="137160" tIns="109728" bIns="9144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DD6F4"/>
                </a:solidFill>
                <a:latin typeface="Consolas"/>
              </a:rPr>
              <a:t>def _is_complex(message: str) -&gt; bool: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DD6F4"/>
                </a:solidFill>
                <a:latin typeface="Consolas"/>
              </a:rPr>
              <a:t>    """Route to PLANNER_MODEL (70B) for complex, mutating, filter, or order-specific queries;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DD6F4"/>
                </a:solidFill>
                <a:latin typeface="Consolas"/>
              </a:rPr>
              <a:t>    fall back to RESPONSE_MODEL (8B) for plain lookups to hit &lt;3 s end-to-end."""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DD6F4"/>
                </a:solidFill>
                <a:latin typeface="Consolas"/>
              </a:rPr>
              <a:t>    lower = message.lower()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DD6F4"/>
                </a:solidFill>
                <a:latin typeface="Consolas"/>
              </a:rPr>
              <a:t>    if any(sig in lower for sig in _COMPLEXITY_SIGNALS):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DD6F4"/>
                </a:solidFill>
                <a:latin typeface="Consolas"/>
              </a:rPr>
              <a:t>        return True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DD6F4"/>
                </a:solidFill>
                <a:latin typeface="Consolas"/>
              </a:rPr>
              <a:t>    # Bug 2: filter/aggregation over order list requires 70B to avoid re-call loop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DD6F4"/>
                </a:solidFill>
                <a:latin typeface="Consolas"/>
              </a:rPr>
              <a:t>    if any(sig in lower for sig in _FILTER_SIGNALS):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DD6F4"/>
                </a:solidFill>
                <a:latin typeface="Consolas"/>
              </a:rPr>
              <a:t>        return True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DD6F4"/>
                </a:solidFill>
                <a:latin typeface="Consolas"/>
              </a:rPr>
              <a:t>    action_count = sum(1 for v in _MULTI_ACTION_VERBS if v in lower)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DD6F4"/>
                </a:solidFill>
                <a:latin typeface="Consolas"/>
              </a:rPr>
              <a:t>    if action_count &gt;= 2: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DD6F4"/>
                </a:solidFill>
                <a:latin typeface="Consolas"/>
              </a:rPr>
              <a:t>        return True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DD6F4"/>
                </a:solidFill>
                <a:latin typeface="Consolas"/>
              </a:rPr>
              <a:t>    if action_count &gt;= 1 and _VALID_ORDER_RE.search(message):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DD6F4"/>
                </a:solidFill>
                <a:latin typeface="Consolas"/>
              </a:rPr>
              <a:t>        return True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DD6F4"/>
                </a:solidFill>
                <a:latin typeface="Consolas"/>
              </a:rPr>
              <a:t>    # Bug 5: any specific order ID → 70B picks get_order reliably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DD6F4"/>
                </a:solidFill>
                <a:latin typeface="Consolas"/>
              </a:rPr>
              <a:t>    if _VALID_ORDER_RE.search(message):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DD6F4"/>
                </a:solidFill>
                <a:latin typeface="Consolas"/>
              </a:rPr>
              <a:t>        return True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DD6F4"/>
                </a:solidFill>
                <a:latin typeface="Consolas"/>
              </a:rPr>
              <a:t>    return False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09728" wrap="square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The RAG branch — retrieval for Q&amp;A, tools for actions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4C8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554919" y="301752"/>
            <a:ext cx="1316736" cy="384048"/>
          </a:xfrm>
          <a:prstGeom prst="roundRect">
            <a:avLst/>
          </a:prstGeom>
          <a:solidFill>
            <a:srgbClr val="4C8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143000"/>
            <a:ext cx="1136873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1">
                <a:solidFill>
                  <a:srgbClr val="555B66"/>
                </a:solidFill>
                <a:latin typeface="Calibri"/>
              </a:rPr>
              <a:t>A general policy question is grounded in the KB articles we actually published and routed STRAIGHT to the responder — skipping the planner. Conservative: any order ID or action verb hands back to the planner.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143000"/>
            <a:ext cx="5547207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 i="1">
                <a:solidFill>
                  <a:srgbClr val="555B66"/>
                </a:solidFill>
                <a:latin typeface="Calibri"/>
              </a:rPr>
              <a:t>conservative classifier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70167" y="1143000"/>
            <a:ext cx="5547207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 i="1">
                <a:solidFill>
                  <a:srgbClr val="555B66"/>
                </a:solidFill>
                <a:latin typeface="Calibri"/>
              </a:rPr>
              <a:t>the fork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1783080"/>
            <a:ext cx="5547207" cy="4754880"/>
          </a:xfrm>
          <a:prstGeom prst="roundRect">
            <a:avLst/>
          </a:prstGeom>
          <a:solidFill>
            <a:srgbClr val="1E1E2E"/>
          </a:solidFill>
          <a:ln w="9525">
            <a:solidFill>
              <a:srgbClr val="4C8B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201168" rIns="137160" tIns="109728" bIns="9144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DD6F4"/>
                </a:solidFill>
                <a:latin typeface="Consolas"/>
              </a:rPr>
              <a:t>def _detect_policy_query(message: str) -&gt; list[str] | None: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DD6F4"/>
                </a:solidFill>
                <a:latin typeface="Consolas"/>
              </a:rPr>
              <a:t>    """Return KB tags if `message` is a GENERAL policy question (no specific order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DD6F4"/>
                </a:solidFill>
                <a:latin typeface="Consolas"/>
              </a:rPr>
              <a:t>    and no transactional action on one), else None. Order-specific or action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DD6F4"/>
                </a:solidFill>
                <a:latin typeface="Consolas"/>
              </a:rPr>
              <a:t>    requests return None so the planner handles them normally."""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DD6F4"/>
                </a:solidFill>
                <a:latin typeface="Consolas"/>
              </a:rPr>
              <a:t>    if not message: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DD6F4"/>
                </a:solidFill>
                <a:latin typeface="Consolas"/>
              </a:rPr>
              <a:t>        return None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DD6F4"/>
                </a:solidFill>
                <a:latin typeface="Consolas"/>
              </a:rPr>
              <a:t>    if _VALID_ORDER_RE.search(message):   # order-specific → planner, not general policy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DD6F4"/>
                </a:solidFill>
                <a:latin typeface="Consolas"/>
              </a:rPr>
              <a:t>        return None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DD6F4"/>
                </a:solidFill>
                <a:latin typeface="Consolas"/>
              </a:rPr>
              <a:t>    low = message.lower()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DD6F4"/>
                </a:solidFill>
                <a:latin typeface="Consolas"/>
              </a:rPr>
              <a:t>    if not _POLICY_CUE_RE.search(low):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DD6F4"/>
                </a:solidFill>
                <a:latin typeface="Consolas"/>
              </a:rPr>
              <a:t>        return None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DD6F4"/>
                </a:solidFill>
                <a:latin typeface="Consolas"/>
              </a:rPr>
              <a:t>    tags: list[str] = []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DD6F4"/>
                </a:solidFill>
                <a:latin typeface="Consolas"/>
              </a:rPr>
              <a:t>    for keyword, mapped in _POLICY_TOPIC_TAGS.items():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DD6F4"/>
                </a:solidFill>
                <a:latin typeface="Consolas"/>
              </a:rPr>
              <a:t>        if keyword in low: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DD6F4"/>
                </a:solidFill>
                <a:latin typeface="Consolas"/>
              </a:rPr>
              <a:t>            tags.extend(mapped)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DD6F4"/>
                </a:solidFill>
                <a:latin typeface="Consolas"/>
              </a:rPr>
              <a:t>    if not tags: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DD6F4"/>
                </a:solidFill>
                <a:latin typeface="Consolas"/>
              </a:rPr>
              <a:t>        return None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DD6F4"/>
                </a:solidFill>
                <a:latin typeface="Consolas"/>
              </a:rPr>
              <a:t>    seen: set[str] = set()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DD6F4"/>
                </a:solidFill>
                <a:latin typeface="Consolas"/>
              </a:rPr>
              <a:t>    return [t for t in tags if not (t in seen or seen.add(t))]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70167" y="1783080"/>
            <a:ext cx="5547207" cy="4754880"/>
          </a:xfrm>
          <a:prstGeom prst="roundRect">
            <a:avLst/>
          </a:prstGeom>
          <a:solidFill>
            <a:srgbClr val="1E1E2E"/>
          </a:solidFill>
          <a:ln w="9525">
            <a:solidFill>
              <a:srgbClr val="4C8B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201168" rIns="137160" tIns="109728" bIns="9144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DD6F4"/>
                </a:solidFill>
                <a:latin typeface="Consolas"/>
              </a:rPr>
              <a:t>def _route_policy_grounding(state: AtlasCareState) -&gt; str: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DD6F4"/>
                </a:solidFill>
                <a:latin typeface="Consolas"/>
              </a:rPr>
              <a:t>    # A general policy question was grounded from the KB → answer directly from it,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DD6F4"/>
                </a:solidFill>
                <a:latin typeface="Consolas"/>
              </a:rPr>
              <a:t>    # skipping the planner. Anything else proceeds to the normal tool-planning path.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DD6F4"/>
                </a:solidFill>
                <a:latin typeface="Consolas"/>
              </a:rPr>
              <a:t>    return "responder" if state.get("policy_grounding") else "tool_agent"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DD6F4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DD6F4"/>
                </a:solidFill>
                <a:latin typeface="Consolas"/>
              </a:rPr>
              <a:t># pure policy Q  -&gt; responder (one grounded call, no planner)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DD6F4"/>
                </a:solidFill>
                <a:latin typeface="Consolas"/>
              </a:rPr>
              <a:t># order / action  -&gt; tool_agent (normal path)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DD6F4"/>
                </a:solidFill>
                <a:latin typeface="Consolas"/>
              </a:rPr>
              <a:t># fork = the conditional edge out of policy_grounding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DD6F4"/>
                </a:solidFill>
                <a:latin typeface="Consolas"/>
              </a:rPr>
              <a:t># search_kb is ALSO a tool, so mixed turns still ground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09728" wrap="square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Evaluations — offline tests + online LLM-as-judge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4C8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650931" y="301752"/>
            <a:ext cx="1220724" cy="384048"/>
          </a:xfrm>
          <a:prstGeom prst="roundRect">
            <a:avLst/>
          </a:prstGeom>
          <a:solidFill>
            <a:srgbClr val="4C8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EVALUATIONS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143000"/>
            <a:ext cx="1136873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1">
                <a:solidFill>
                  <a:srgbClr val="555B66"/>
                </a:solidFill>
                <a:latin typeface="Calibri"/>
              </a:rPr>
              <a:t>Offline: contract tests pin schema &amp; policy numbers + a regression test behind every bug here — 390 passing. Online: the evaluator bypasses cheaply, judges carefully, and retries AT MOST once.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920240"/>
            <a:ext cx="11368735" cy="1645920"/>
          </a:xfrm>
          <a:prstGeom prst="roundRect">
            <a:avLst/>
          </a:prstGeom>
          <a:solidFill>
            <a:srgbClr val="1E1E2E"/>
          </a:solidFill>
          <a:ln w="9525">
            <a:solidFill>
              <a:srgbClr val="4C8B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201168" rIns="137160" tIns="109728" bIns="9144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DD6F4"/>
                </a:solidFill>
                <a:latin typeface="Consolas"/>
              </a:rPr>
              <a:t>def _route_evaluator(state: AtlasCareState) -&gt; str: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DD6F4"/>
                </a:solidFill>
                <a:latin typeface="Consolas"/>
              </a:rPr>
              <a:t>    if state.get("eval_approved") or state.get("eval_retry_count", 0) &gt;= 2: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DD6F4"/>
                </a:solidFill>
                <a:latin typeface="Consolas"/>
              </a:rPr>
              <a:t>        return "end"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DD6F4"/>
                </a:solidFill>
                <a:latin typeface="Consolas"/>
              </a:rPr>
              <a:t>    return "responder"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749039"/>
            <a:ext cx="11185855" cy="27432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600" b="0" i="0">
                <a:solidFill>
                  <a:srgbClr val="20242B"/>
                </a:solidFill>
                <a:latin typeface="Calibri"/>
              </a:rPr>
              <a:t>•  Bypass ladder skips the judge entirely when there's nothing to judge: retry spent, no tools ran, deterministic escalation, a confirmation prompt, or a plain lookup.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20242B"/>
                </a:solidFill>
                <a:latin typeface="Calibri"/>
              </a:rPr>
              <a:t>•  Capped on purpose: an LLM judge isn't deterministic — without the cap you get reject↔retry oscillation, unbounded latency and cost.</a:t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20242B"/>
                </a:solidFill>
                <a:latin typeface="Calibri"/>
              </a:rPr>
              <a:t>•  Safe to bound because the judge only raises the QUALITY ceiling; the deterministic guardrails are the safety floor. If the judge failed entirely, the money is still safe.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09728" wrap="square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Live demo — watch the trace, not just the reply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4C8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11185855" cy="525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700" b="0" i="0">
                <a:solidFill>
                  <a:srgbClr val="20242B"/>
                </a:solidFill>
                <a:latin typeface="Calibri"/>
              </a:rPr>
              <a:t>•  "Cancel the wireless mouse on ORD-78321" — low-value, unambiguous → cancels directly, refunds to original, no needless confirmation.</a:t>
            </a:r>
          </a:p>
          <a:p>
            <a:pPr>
              <a:spcAft>
                <a:spcPts val="1100"/>
              </a:spcAft>
            </a:pPr>
            <a:r>
              <a:rPr sz="1700" b="0" i="0">
                <a:solidFill>
                  <a:srgbClr val="20242B"/>
                </a:solidFill>
                <a:latin typeface="Calibri"/>
              </a:rPr>
              <a:t>•  "Cancel the Dell laptop on ORD-78321" — high-value → code forces confirmation; on "yes", over-limit refund escalates instead of paying.</a:t>
            </a:r>
          </a:p>
          <a:p>
            <a:pPr>
              <a:spcAft>
                <a:spcPts val="1100"/>
              </a:spcAft>
            </a:pPr>
            <a:r>
              <a:rPr sz="1700" b="0" i="0">
                <a:solidFill>
                  <a:srgbClr val="20242B"/>
                </a:solidFill>
                <a:latin typeface="Calibri"/>
              </a:rPr>
              <a:t>•  "Refund to my American Express card" — no model call, no action → deterministic supported-methods menu, original first.</a:t>
            </a:r>
          </a:p>
          <a:p>
            <a:pPr>
              <a:spcAft>
                <a:spcPts val="1100"/>
              </a:spcAft>
            </a:pPr>
            <a:r>
              <a:rPr sz="1700" b="0" i="0">
                <a:solidFill>
                  <a:srgbClr val="20242B"/>
                </a:solidFill>
                <a:latin typeface="Calibri"/>
              </a:rPr>
              <a:t>•  "I never placed this order, this is fraud" — instant high-priority escalation, zero autonomous action, model never runs.</a:t>
            </a:r>
          </a:p>
          <a:p>
            <a:pPr>
              <a:spcAft>
                <a:spcPts val="1100"/>
              </a:spcAft>
            </a:pPr>
            <a:r>
              <a:rPr sz="1700" b="0" i="0">
                <a:solidFill>
                  <a:srgbClr val="20242B"/>
                </a:solidFill>
                <a:latin typeface="Calibri"/>
              </a:rPr>
              <a:t>•  One message across several orders — completes the valid action AND escalates the over-limit one; narrates both.</a:t>
            </a:r>
          </a:p>
          <a:p>
            <a:pPr>
              <a:spcAft>
                <a:spcPts val="1100"/>
              </a:spcAft>
            </a:pPr>
            <a:r>
              <a:rPr sz="1700" b="0" i="0">
                <a:solidFill>
                  <a:srgbClr val="20242B"/>
                </a:solidFill>
                <a:latin typeface="Calibri"/>
              </a:rPr>
              <a:t>•  "What is your refund policy?" — trace shows a kb_grounding step and NO planner call; answer quotes real figures (₹25k, 30-day, 5-day SLA).</a:t>
            </a:r>
          </a:p>
          <a:p>
            <a:pPr>
              <a:spcAft>
                <a:spcPts val="1100"/>
              </a:spcAft>
            </a:pPr>
            <a:r>
              <a:rPr sz="1700" b="0" i="0">
                <a:solidFill>
                  <a:srgbClr val="20242B"/>
                </a:solidFill>
                <a:latin typeface="Calibri"/>
              </a:rPr>
              <a:t>•  "...my card is 4539 1488 0343 6467" — first trace step is a redact event; raw card appears nowhere in request, reply, or logs.</a:t>
            </a:r>
          </a:p>
          <a:p>
            <a:pPr>
              <a:spcAft>
                <a:spcPts val="1100"/>
              </a:spcAft>
            </a:pPr>
            <a:r>
              <a:rPr sz="1700" b="1" i="0">
                <a:solidFill>
                  <a:srgbClr val="20242B"/>
                </a:solidFill>
                <a:latin typeface="Calibri"/>
              </a:rPr>
              <a:t>•  Every action ties to a trace ID and a matching audit-log entry — attributable end to end.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09728" wrap="square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Known limitations — limitation · reason · production fix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4C8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43000"/>
            <a:ext cx="11185855" cy="5349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500" b="1" i="0">
                <a:solidFill>
                  <a:srgbClr val="20242B"/>
                </a:solidFill>
                <a:latin typeface="Calibri"/>
              </a:rPr>
              <a:t>•  Auth/session is a deliberate simulation. Session token is forgeable (embedded customer-ID pattern), static OTP 9999 returned in the response, registration binds any customer ID, unsalted SHA-256, no rate limiting.</a:t>
            </a:r>
          </a:p>
          <a:p>
            <a:pPr lvl="1">
              <a:spcAft>
                <a:spcPts val="500"/>
              </a:spcAft>
            </a:pPr>
            <a:r>
              <a:rPr sz="1300" b="0" i="0">
                <a:solidFill>
                  <a:srgbClr val="555B66"/>
                </a:solidFill>
                <a:latin typeface="Calibri"/>
              </a:rPr>
              <a:t>→ Opaque server-issued sessions; real out-of-band OTP; ownership-verified registration; bcrypt/Argon2; API gateway with auth + per-tenant rate limiting.</a:t>
            </a:r>
          </a:p>
          <a:p>
            <a:pPr>
              <a:spcAft>
                <a:spcPts val="500"/>
              </a:spcAft>
            </a:pPr>
            <a:r>
              <a:rPr sz="1500" b="0" i="0">
                <a:solidFill>
                  <a:srgbClr val="20242B"/>
                </a:solidFill>
                <a:latin typeface="Calibri"/>
              </a:rPr>
              <a:t>•  Persistence is JSON files with in-process locks.</a:t>
            </a:r>
          </a:p>
          <a:p>
            <a:pPr lvl="1">
              <a:spcAft>
                <a:spcPts val="500"/>
              </a:spcAft>
            </a:pPr>
            <a:r>
              <a:rPr sz="1300" b="0" i="0">
                <a:solidFill>
                  <a:srgbClr val="555B66"/>
                </a:solidFill>
                <a:latin typeface="Calibri"/>
              </a:rPr>
              <a:t>→ PostgreSQL with real transactions, row locks, idempotency keys — the repository layer is already the seam.</a:t>
            </a:r>
          </a:p>
          <a:p>
            <a:pPr>
              <a:spcAft>
                <a:spcPts val="500"/>
              </a:spcAft>
            </a:pPr>
            <a:r>
              <a:rPr sz="1500" b="0" i="0">
                <a:solidFill>
                  <a:srgbClr val="20242B"/>
                </a:solidFill>
                <a:latin typeface="Calibri"/>
              </a:rPr>
              <a:t>•  GR-004 runs after side effects commit.</a:t>
            </a:r>
          </a:p>
          <a:p>
            <a:pPr lvl="1">
              <a:spcAft>
                <a:spcPts val="500"/>
              </a:spcAft>
            </a:pPr>
            <a:r>
              <a:rPr sz="1300" b="0" i="0">
                <a:solidFill>
                  <a:srgbClr val="555B66"/>
                </a:solidFill>
                <a:latin typeface="Calibri"/>
              </a:rPr>
              <a:t>→ Move money checks fully pre-commit, or adopt a saga / compensating-transaction pattern. Today every committed action is logged at CRITICAL for reconciliation.</a:t>
            </a:r>
          </a:p>
          <a:p>
            <a:pPr>
              <a:spcAft>
                <a:spcPts val="500"/>
              </a:spcAft>
            </a:pPr>
            <a:r>
              <a:rPr sz="1500" b="0" i="0">
                <a:solidFill>
                  <a:srgbClr val="20242B"/>
                </a:solidFill>
                <a:latin typeface="Calibri"/>
              </a:rPr>
              <a:t>•  LLM rate limits are a hard external ceiling (Gemini free tier ≈ 20/day interrupted a test battery).</a:t>
            </a:r>
          </a:p>
          <a:p>
            <a:pPr lvl="1">
              <a:spcAft>
                <a:spcPts val="500"/>
              </a:spcAft>
            </a:pPr>
            <a:r>
              <a:rPr sz="1300" b="0" i="0">
                <a:solidFill>
                  <a:srgbClr val="555B66"/>
                </a:solidFill>
                <a:latin typeface="Calibri"/>
              </a:rPr>
              <a:t>→ Paid tier + multi-provider failover (already trivial via the OpenAI-compatible client) + request queue &amp; response caching.</a:t>
            </a:r>
          </a:p>
          <a:p>
            <a:pPr>
              <a:spcAft>
                <a:spcPts val="500"/>
              </a:spcAft>
            </a:pPr>
            <a:r>
              <a:rPr sz="1500" b="0" i="0">
                <a:solidFill>
                  <a:srgbClr val="20242B"/>
                </a:solidFill>
                <a:latin typeface="Calibri"/>
              </a:rPr>
              <a:t>•  In-memory, single-process state (checkpointer + trace store).</a:t>
            </a:r>
          </a:p>
          <a:p>
            <a:pPr lvl="1">
              <a:spcAft>
                <a:spcPts val="500"/>
              </a:spcAft>
            </a:pPr>
            <a:r>
              <a:rPr sz="1300" b="0" i="0">
                <a:solidFill>
                  <a:srgbClr val="555B66"/>
                </a:solidFill>
                <a:latin typeface="Calibri"/>
              </a:rPr>
              <a:t>→ Redis-backed checkpointer, horizontal scaling behind a load balancer.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828800"/>
            <a:ext cx="12191695" cy="64008"/>
          </a:xfrm>
          <a:prstGeom prst="rect">
            <a:avLst/>
          </a:prstGeom>
          <a:solidFill>
            <a:srgbClr val="4C8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03120"/>
            <a:ext cx="1054577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i="0">
                <a:solidFill>
                  <a:srgbClr val="FFFFFF"/>
                </a:solidFill>
                <a:latin typeface="Calibri"/>
              </a:rPr>
              <a:t>What happens when the AI is wrong?</a:t>
            </a:r>
          </a:p>
          <a:p>
            <a:r>
              <a:rPr sz="2200" b="0" i="1">
                <a:solidFill>
                  <a:srgbClr val="CFDCF2"/>
                </a:solidFill>
                <a:latin typeface="Calibri"/>
              </a:rPr>
              <a:t>Not much — because it was never trusted to be right about the things that matter.</a:t>
            </a:r>
          </a:p>
          <a:p>
            <a:r>
              <a:rPr sz="1700" b="0" i="0">
                <a:solidFill>
                  <a:srgbClr val="D8E2F4"/>
                </a:solidFill>
                <a:latin typeface="Calibri"/>
              </a:rPr>
              <a:t>•  Config-driven policy — change a rule without a deploy.</a:t>
            </a:r>
          </a:p>
          <a:p>
            <a:r>
              <a:rPr sz="1700" b="0" i="0">
                <a:solidFill>
                  <a:srgbClr val="D8E2F4"/>
                </a:solidFill>
                <a:latin typeface="Calibri"/>
              </a:rPr>
              <a:t>•  Refund safety in three independent layers.</a:t>
            </a:r>
          </a:p>
          <a:p>
            <a:r>
              <a:rPr sz="1700" b="0" i="0">
                <a:solidFill>
                  <a:srgbClr val="D8E2F4"/>
                </a:solidFill>
                <a:latin typeface="Calibri"/>
              </a:rPr>
              <a:t>•  A cancel/refund ordering fix straight out of anomalous live data.</a:t>
            </a:r>
          </a:p>
          <a:p>
            <a:r>
              <a:rPr sz="1700" b="0" i="0">
                <a:solidFill>
                  <a:srgbClr val="D8E2F4"/>
                </a:solidFill>
                <a:latin typeface="Calibri"/>
              </a:rPr>
              <a:t>•  Deterministic guardrails for security, escalation, confirmation.</a:t>
            </a:r>
          </a:p>
          <a:p>
            <a:r>
              <a:rPr sz="1700" b="0" i="0">
                <a:solidFill>
                  <a:srgbClr val="D8E2F4"/>
                </a:solidFill>
                <a:latin typeface="Calibri"/>
              </a:rPr>
              <a:t>•  Retry + backoff, full tracing, an audit trail — nothing invisible.</a:t>
            </a:r>
          </a:p>
          <a:p>
            <a:r>
              <a:rPr sz="1700" b="0" i="0">
                <a:solidFill>
                  <a:srgbClr val="D8E2F4"/>
                </a:solidFill>
                <a:latin typeface="Calibri"/>
              </a:rPr>
              <a:t>•  A regression test behind every fix — bugs can't come back.</a:t>
            </a:r>
          </a:p>
          <a:p>
            <a:pPr>
              <a:spcBef>
                <a:spcPts val="1400"/>
              </a:spcBef>
            </a:pPr>
            <a:r>
              <a:rPr sz="2000" b="1" i="0">
                <a:solidFill>
                  <a:srgbClr val="FFFFFF"/>
                </a:solidFill>
                <a:latin typeface="Calibri"/>
              </a:rPr>
              <a:t>The model proposes; code gets the final say.   Thank you.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